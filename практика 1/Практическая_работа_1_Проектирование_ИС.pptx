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Здравствуйте! Меня зовут Ваздаев Даниил Ильич, группа УИБО-09-23, РТУ МИРЭА. Представляю разбор системы UPS ORION по дисциплине «Проектирование информационных систем». Здесь интересен не только алгоритм маршрутизации, но и переход от производственной проблемы к требованиям, архитектуре и внедрению. Основной вопрос такой: как встроить математическое решение в ежедневную работу, чтобы рассчитанный маршрут действительно выполнялся? Я рассматриваю первоначальное внедрение, завершенное в 2016 году. Фактическую основу дают открытые публикации, прежде всего интервью представителя UPS Джека Левиса. При этом схемы процессов, UML, логическая архитектура и учебный календарный план являются моей реконструкцией, а не внутренними документами компании. Это разграничение позволяет обсуждать проектные решения, не выдавая предположения за установленные факты. Сначала определим границы задачи, затем проследим изменения процесса и условия получения результата.</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UPS занимается доставкой отправлений, однако для проектирования нельзя брать всю деятельность компании как один неделимый процесс. В этой работе единица анализа значительно уже: дневной маршрут одного водителя с заданным набором остановок и обязательствами обслуживания. Начало процесса связано с подготовкой задания, окончание — с получением данных о выполнении и разбором отклонений. Между этими точками необходимо выбрать осуществимый порядок посещений. Сортировка посылок, магистральные перевозки и распределение потоков между всеми объектами сети остаются за границей модели. Они влияют на входные условия, но здесь не оптимизируются. Такое ограничение важно практически: иначе непонятно, кто отвечает за результат и с чем сравнивать улучшение. Для выбранного процесса можно обсуждать пробег, соблюдение обязательств, качество плана и способность сотрудника использовать его в реальной рабочей смене.</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Предпосылка внедрения — увеличение сложности доставки, а не просто желание заменить бумажную работу компьютером. При росте числа остановок становится труднее одновременно учитывать расстояния, обязательства перед клиентами и особенности территории. Дополнительное значение имеет изменение структуры спроса: доставки частным получателям могут быть менее плотными, чем обслуживание крупных деловых адресов. Поэтому одинаковое количество отправлений не обязательно означает одинаковую сложность маршрута. Клиентские требования также ограничивают свободу перестановки остановок: самый короткий путь не всегда обеспечивает нужное обслуживание. Опытный водитель умеет учитывать многие местные особенности, но сравнить большое количество допустимых последовательностей вручную затруднительно. Отсюда возникает потребность в поддержке решения. Причинная цепочка здесь следующая: усложнение условий повышает нагрузку на человека, ручной выбор становится ограничением, а оптимизация должна учитывать реальные правила, а не только геометрическое расстояние.</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исходном процессе UPS уже использовала PFT. Поэтому изображать состояние до ORION как полностью неавтоматизированную работу было бы неверно. В нашей реконструкции PFT предоставляет подготовленные сведения, планировщик работает с заданием, а водитель выбирает порядок посещений, существенно опираясь на опыт. Далее выполняется доставка. Если появляются исключения, решения пересматриваются вручную, после чего данные выполнения возвращаются для анализа. Обратите внимание: проблема находится не в отсутствии информации вообще, а в способе преобразования информации в последовательность действий. Два человека могут по одному набору заданий выбрать разные маршруты, причем объяснить разницу и устойчиво воспроизвести лучший вариант непросто. При этом опыт водителя остается ценным источником знаний о территории. Задача новой системы — не объявить этот опыт ненужным, а дополнить его проверяемым расчетом и организованной обратной связью.</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Из узких мест следует выводить конкретные требования. Первое соответствие: ручной выбор последовательности требует оптимизации с ограничениями обслуживания. Недостаточно потребовать просто «короткий маршрут», потому что такой критерий может противоречить обязательствам доставки. Второе соответствие: ошибки карт и координат требуют проверки исходных данных и понятной процедуры исправления. Быстрый расчет на неверном входе способен ускорить принятие плохого решения. Третье соответствие: трудности принятия рекомендаций водителями требуют обучения, объяснения логики и обработки обратной связи. Это не дополнительная активность после разработки, а условие работоспособности процесса. В учебном проекте я также закладываю сохранность заданий и диагностируемые отказы. Если решение не найдено, система должна сообщить об этом, а не представить неполный маршрут как успешный. Такая прослеживаемость связывает каждое требование с наблюдаемой проблемой и будущей приемочной проверкой.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ORION получает сведения о заданиях, карты и ограничения, после чего математическое ядро определяет порядок остановок. Это собственная разработка UPS в области исследования операций, работающая поверх существующей PFT. В интервью Джек Левис говорит об анализе более двухсот тысяч вариантов за секунды. Число показывает масштаб автоматизированного поиска, но не означает, что система перебирает абсолютно все возможные маршруты или гарантирует универсальный норматив времени ответа. Для нас важнее разделение ответственности: исходные системы описывают задачу, оптимизационная модель ищет допустимое решение, а результат становится рекомендацией для выполнения. Оптимальность также нельзя понимать исключительно как минимальный пробег. Необходимо соблюдать ограничения и учитывать пригодность маршрута для повседневной работы. Поэтому ORION следует рассматривать как часть информационной системы поддержки операционных решений, а не как изолированную формулу, автоматически устраняющую все организационные проблемы.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целевом процессе сохраняются те же начало, окончание и единица анализа. Меняется центральный механизм выбора: система проверяет входные данные и рассчитывает последовательность остановок. Если проверка выявляет проблему, человек организует исправление или использует заранее согласованный резервный порядок работы. Водитель получает маршрут, выполняет доставку и обрабатывает ситуации, которые требуют решения на месте. Затем результаты используются для оценки и уточнения процесса. Это перераспределение работы: рутинное сравнение вариантов передается системе, ответственность за исключения и качество условий остается у людей. Здесь важно историческое ограничение. В интервью 2017 года непрерывные предложения в пути и навигация описывались как дальнейшее развитие. Поэтому на этой схеме первоначальной ORION нет бесконечного автоматического пересчета после каждого события. Нельзя незаметно переносить более поздние возможности в проект, граница которого заканчивается первоначальным внедрением 2016 года.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Диаграмма вариантов использования показывает цели участников, а не очередность технических вызовов. Планировщик формирует маршрут, водитель получает его, руководитель оценивает выполнение. Для формирования обязательна проверка исходных данных, поэтому здесь используется отношение include. Получение маршрута и оценка выполнения остаются самостоятельными вариантами использования: то, что они происходят позже, само по себе не создает отношения включения. PFT и картографический сервис показаны как вторичные акторы относительно границы ORION. Слово «сервис» здесь обозначает роль предоставления картографических сведений, а не доказанного внешнего поставщика. Главный сценарий подробно раскрыт в отдельной спецификации: от запроса планировщика до сохранения пригодного маршрута. Для ошибок предусмотрены альтернативные потоки. Недоступный источник, плохие координаты или невозможность найти допустимое решение не должны маскироваться успешным статусом. Поэтому исключения — часть требований, а не примечание к счастливому сценарию.</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Архитектура на слайде является логической многослойной клиент-серверной реконструкцией. Она разделяет пользовательское взаимодействие, прикладную обработку, оптимизационное ядро и работу с данными. Такое разделение помогает определить ответственность и локализовать причины отказа. Например, ошибка исходных координат и ошибка расчета могут приводить к похожему неудобному маршруту, но требуют разных способов исправления. Подтвержденная основа — существующая PFT, собственное ядро UPS и важность картографических данных. Конкретное физическое развертывание из этих фактов не следует. Мы не знаем по рассмотренным материалам, какие именно СУБД, протоколы или облачные платформы применялись, и не объявляем систему микросервисной. Клиент-серверное представление здесь — удобная модель взаимодействий, а не установленная топология промышленной инфраструктуры. На защите принципиально отделять разумное проектное предложение от технической характеристики, для которой требуется прямой источник.</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Жизненный цикл представлен пятью стадиями: обследование и требования; подготовка данных и проектирование; разработка и испытания; пилот и внедрение; эксплуатация и улучшение. Внутри предполагаются итерации, а расширение охвата идет инкрементально, по готовым площадкам. Это учебная интерпретация, не утверждение о применении Scrum в UPS. Переход между стадиями определяется не одним календарем. До испытаний нужны пригодные данные и согласованные ограничения; до запуска — обученные пользователи, поддержка и приемлемый результат проверок; после пилота — основания для расширения. Открытое интервью подтверждает значение критериев готовности и полевых проверок, включая одиннадцать разных тестов. Их подробное содержание не опубликовано, поэтому собственные приемочные процедуры мы обозначаем как предложения. Обратная связь может вернуть команду к данным или модели. Именно поэтому жесткая однократная последовательность хуже отражает логику такого проекта, чем управляемые повторения.</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графике разделены длительный этап и отдельные события. Интервью после внедрения подтверждает начало исследований в 2003 году, первый полевой тест в 2008 году и завершение внедрения в 2016 году. Первичный пресс-релиз UPS дополнительно указывает период прототипирования с 2008 по 2011 год и официальный запуск в 2013 году. Поэтому полоса на диаграмме относится только к опубликованному периоду, а ромбы обозначают вехи. Их положение внутри года условно: точные месяцы не установлены. Нельзя автоматически считать весь промежуток между двумя вехами отдельной стадией разработки. В материалах проекта дополнительно сохранен оценочный график одной площадки на семнадцать недель. Он нужен для учебного планирования, но не заменяет историю UPS. В апреле 2016 завершение еще прогнозировалось; сообщение о состоявшемся завершении взято из последующего интервью. Так источники разных лет дополняют, а не подменяют друг друга.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интервью приведена оценка UPS: сокращение пробега на сто миллионов миль в год и ежегодный экономический эффект от трехсот до четырехсот миллионов долларов. Корректно говорить именно об оценке компании, а не о результате независимого аудита. Эти показатели относятся к масштабу внедрения, поэтому переносить их напрямую на одну учебную площадку нельзя. В использованном материале нет сопоставимой исходной базы, позволяющей честно рассчитать процент сокращения пробега. По этой причине процентов на слайде нет. Отдельно упоминаемый результат PFT — восемьдесят пять миллионов миль — также нельзя автоматически складывать с эффектом ORION: это другое решение и другой контекст оценки. Для собственного пилота потребовались бы базовый период, сопоставимые условия и контроль качества обслуживания. Главный вывод из опубликованных цифр — значимость оптимизации в крупной операции, а не готовая формула экономии для любого предприятия.</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качестве авторского направления развития предлагается прогнозировать длительность остановки методами машинного обучения. Идея не заменяет оптимизатор: прогноз вместе с оценкой неопределенности помогает сформировать резерв времени, который затем учитывает математическая модель. Человек сохраняет возможность проверить спорные условия. Для обучения нужны история остановок и релевантный контекст, но не избыточные персональные сведения. Критично избежать утечки будущей информации в обучение и проверить переносимость результата на другие условия. Пилот должен сравнивать подход с базовым решением без такого прогноза на сопоставимых маршрутах. Измерять следует не только ошибку модели, но и соблюдение обязательств, пробег, переработки и частоту вмешательств. Если прогноз точнее, а обслуживание хуже, улучшение не доказано. Экономический эффект остается гипотезой. Я не обещаю процент экономии и не утверждаю, что такая идея является новой для самой UPS.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Подведу итог. Кейс показывает последовательную связь между проблемой процесса, требованиями к данным и алгоритму, изменением ролей и проверкой эффекта. Главный источник — интервью Джека Левиса на ODBMS за август 2017 года; дополнительную профессиональную перспективу дает публикация INFORMS. Эти материалы позволяют обсуждать историю и заявленные результаты, но не восстанавливают все внутренние технические детали. Поэтому реконструкции явно отделены от фактов. Практический вывод состоит в том, что внедрение нельзя свести к покупке или написанию оптимизатора. Нужны достоверные карты, понятные правила обработки ошибок и сотрудники, способные применять рекомендации. В интервью масштаб команды внедрения доходил до семисот человек, что подчеркивает организационную сторону изменений. Успех здесь связан с сочетанием решения, качества данных и работы с людьми. Именно эту связку важно сохранить при проектировании собственной информационной системы.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завершение предлагаю вопросы для обсуждения с командами. Что станет ограничивающим звеном такого решения: расчет, подготовка данных или принятие рекомендаций сотрудниками, и как это проверить? Как обнаружить ситуацию, когда плохой маршрут вызван ошибкой карты, а не оптимизатора? Почему логическая схема не дает права объявить облако и микросервисы установленными фактами? Что потребуется измерить и изменить при десятикратном росте нагрузки, прежде чем выбирать способ масштабирования? И какой пилот действительно покажет пользу прогноза длительности остановок для доставки, а не только улучшение статистической метрики? Для каждого ответа важно назвать проверяемый критерий и границы вывода. Развернутые ответы на семь вопросов вынесены в отдельный документ. Предлагаю сначала обсудить ограничивающее звено: от его определения зависит, даст ли следующий шаг пользу всему процессу, а не отдельному компоненту. Спасибо за внимание.</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www.odbms.org/blog/2017/08/big-data-at-ups-interview-with-jack-levis/" TargetMode="External"/><Relationship Id="rId4" Type="http://schemas.openxmlformats.org/officeDocument/2006/relationships/hyperlink" Target="https://web.archive.org/web/20250516154643/https://pubsonline.informs.org/do/10.1287/orms.2016.03.10/ful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UPS ORION</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Практическая / самостоятельная работа № 1 • РТУ МИРЭА</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01 / 15</a:t>
            </a:r>
          </a:p>
        </p:txBody>
      </p:sp>
      <p:sp>
        <p:nvSpPr>
          <p:cNvPr id="8" name="TextBox 7"/>
          <p:cNvSpPr txBox="1"/>
          <p:nvPr/>
        </p:nvSpPr>
        <p:spPr>
          <a:xfrm>
            <a:off x="502920" y="1581912"/>
            <a:ext cx="8229600" cy="1417320"/>
          </a:xfrm>
          <a:prstGeom prst="rect">
            <a:avLst/>
          </a:prstGeom>
          <a:noFill/>
        </p:spPr>
        <p:txBody>
          <a:bodyPr wrap="square" lIns="0" rIns="0" tIns="0" bIns="0">
            <a:spAutoFit/>
          </a:bodyPr>
          <a:lstStyle/>
          <a:p>
            <a:pPr>
              <a:spcAft>
                <a:spcPts val="600"/>
              </a:spcAft>
              <a:defRPr sz="3400" b="1">
                <a:solidFill>
                  <a:srgbClr val="20364D"/>
                </a:solidFill>
                <a:latin typeface="Arial"/>
              </a:defRPr>
            </a:pPr>
            <a:r>
              <a:t>Как спроектировать ИС,</a:t>
            </a:r>
          </a:p>
          <a:p>
            <a:pPr>
              <a:spcAft>
                <a:spcPts val="600"/>
              </a:spcAft>
              <a:defRPr sz="3400" b="1">
                <a:solidFill>
                  <a:srgbClr val="20364D"/>
                </a:solidFill>
                <a:latin typeface="Arial"/>
              </a:defRPr>
            </a:pPr>
            <a:r>
              <a:t>которая меняет маршрут доставки</a:t>
            </a:r>
          </a:p>
        </p:txBody>
      </p:sp>
      <p:sp>
        <p:nvSpPr>
          <p:cNvPr id="9" name="Rounded Rectangle 8"/>
          <p:cNvSpPr/>
          <p:nvPr/>
        </p:nvSpPr>
        <p:spPr>
          <a:xfrm>
            <a:off x="502920" y="3182112"/>
            <a:ext cx="8778240" cy="384048"/>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259836"/>
            <a:ext cx="8558784" cy="228600"/>
          </a:xfrm>
          <a:prstGeom prst="rect">
            <a:avLst/>
          </a:prstGeom>
          <a:noFill/>
        </p:spPr>
        <p:txBody>
          <a:bodyPr wrap="square" lIns="0" rIns="0" tIns="0" bIns="0">
            <a:spAutoFit/>
          </a:bodyPr>
          <a:lstStyle/>
          <a:p>
            <a:pPr>
              <a:spcAft>
                <a:spcPts val="600"/>
              </a:spcAft>
              <a:defRPr sz="1200" b="1">
                <a:solidFill>
                  <a:srgbClr val="627387"/>
                </a:solidFill>
                <a:latin typeface="Arial"/>
              </a:defRPr>
            </a:pPr>
            <a:r>
              <a:t>РЕАЛЬНЫЙ КЕЙС · ПЕРВОНАЧАЛЬНОЕ ВНЕДРЕНИЕ ДО 2016 ГОДА</a:t>
            </a:r>
          </a:p>
        </p:txBody>
      </p:sp>
      <p:sp>
        <p:nvSpPr>
          <p:cNvPr id="11" name="Rounded Rectangle 10"/>
          <p:cNvSpPr/>
          <p:nvPr/>
        </p:nvSpPr>
        <p:spPr>
          <a:xfrm>
            <a:off x="502920" y="3922776"/>
            <a:ext cx="3593592" cy="169164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4105656"/>
            <a:ext cx="3191256"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БЫЛО</a:t>
            </a:r>
          </a:p>
        </p:txBody>
      </p:sp>
      <p:sp>
        <p:nvSpPr>
          <p:cNvPr id="13" name="TextBox 12"/>
          <p:cNvSpPr txBox="1"/>
          <p:nvPr/>
        </p:nvSpPr>
        <p:spPr>
          <a:xfrm>
            <a:off x="704088" y="4956048"/>
            <a:ext cx="3191256" cy="548640"/>
          </a:xfrm>
          <a:prstGeom prst="rect">
            <a:avLst/>
          </a:prstGeom>
          <a:noFill/>
        </p:spPr>
        <p:txBody>
          <a:bodyPr wrap="square" lIns="0" rIns="0" tIns="0" bIns="0">
            <a:spAutoFit/>
          </a:bodyPr>
          <a:lstStyle/>
          <a:p>
            <a:pPr>
              <a:spcAft>
                <a:spcPts val="600"/>
              </a:spcAft>
              <a:defRPr sz="2100" b="0">
                <a:solidFill>
                  <a:srgbClr val="20364D"/>
                </a:solidFill>
                <a:latin typeface="Arial"/>
              </a:defRPr>
            </a:pPr>
            <a:r>
              <a:t>Решение по опыту</a:t>
            </a:r>
          </a:p>
        </p:txBody>
      </p:sp>
      <p:sp>
        <p:nvSpPr>
          <p:cNvPr id="14" name="Rounded Rectangle 13"/>
          <p:cNvSpPr/>
          <p:nvPr/>
        </p:nvSpPr>
        <p:spPr>
          <a:xfrm>
            <a:off x="4270248" y="3922776"/>
            <a:ext cx="3593592" cy="169164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4105656"/>
            <a:ext cx="3191256"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ИЗМЕНЕНИЕ</a:t>
            </a:r>
          </a:p>
        </p:txBody>
      </p:sp>
      <p:sp>
        <p:nvSpPr>
          <p:cNvPr id="16" name="TextBox 15"/>
          <p:cNvSpPr txBox="1"/>
          <p:nvPr/>
        </p:nvSpPr>
        <p:spPr>
          <a:xfrm>
            <a:off x="4471416" y="4956048"/>
            <a:ext cx="3191256" cy="548640"/>
          </a:xfrm>
          <a:prstGeom prst="rect">
            <a:avLst/>
          </a:prstGeom>
          <a:noFill/>
        </p:spPr>
        <p:txBody>
          <a:bodyPr wrap="square" lIns="0" rIns="0" tIns="0" bIns="0">
            <a:spAutoFit/>
          </a:bodyPr>
          <a:lstStyle/>
          <a:p>
            <a:pPr>
              <a:spcAft>
                <a:spcPts val="600"/>
              </a:spcAft>
              <a:defRPr sz="2100" b="0">
                <a:solidFill>
                  <a:srgbClr val="20364D"/>
                </a:solidFill>
                <a:latin typeface="Arial"/>
              </a:defRPr>
            </a:pPr>
            <a:r>
              <a:t>Оптимизация + данные</a:t>
            </a:r>
          </a:p>
        </p:txBody>
      </p:sp>
      <p:sp>
        <p:nvSpPr>
          <p:cNvPr id="17" name="Rounded Rectangle 16"/>
          <p:cNvSpPr/>
          <p:nvPr/>
        </p:nvSpPr>
        <p:spPr>
          <a:xfrm>
            <a:off x="8037576" y="3922776"/>
            <a:ext cx="3593592" cy="169164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4105656"/>
            <a:ext cx="3191256"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СТАЛО</a:t>
            </a:r>
          </a:p>
        </p:txBody>
      </p:sp>
      <p:sp>
        <p:nvSpPr>
          <p:cNvPr id="19" name="TextBox 18"/>
          <p:cNvSpPr txBox="1"/>
          <p:nvPr/>
        </p:nvSpPr>
        <p:spPr>
          <a:xfrm>
            <a:off x="8238744" y="4956048"/>
            <a:ext cx="3191256" cy="548640"/>
          </a:xfrm>
          <a:prstGeom prst="rect">
            <a:avLst/>
          </a:prstGeom>
          <a:noFill/>
        </p:spPr>
        <p:txBody>
          <a:bodyPr wrap="square" lIns="0" rIns="0" tIns="0" bIns="0">
            <a:spAutoFit/>
          </a:bodyPr>
          <a:lstStyle/>
          <a:p>
            <a:pPr>
              <a:spcAft>
                <a:spcPts val="600"/>
              </a:spcAft>
              <a:defRPr sz="2100" b="0">
                <a:solidFill>
                  <a:srgbClr val="20364D"/>
                </a:solidFill>
                <a:latin typeface="Arial"/>
              </a:defRPr>
            </a:pPr>
            <a:r>
              <a:t>Порядок остановок</a:t>
            </a:r>
          </a:p>
        </p:txBody>
      </p:sp>
      <p:sp>
        <p:nvSpPr>
          <p:cNvPr id="20" name="TextBox 19"/>
          <p:cNvSpPr txBox="1"/>
          <p:nvPr/>
        </p:nvSpPr>
        <p:spPr>
          <a:xfrm>
            <a:off x="502920" y="5925312"/>
            <a:ext cx="10058400" cy="310896"/>
          </a:xfrm>
          <a:prstGeom prst="rect">
            <a:avLst/>
          </a:prstGeom>
          <a:noFill/>
        </p:spPr>
        <p:txBody>
          <a:bodyPr wrap="square" lIns="0" rIns="0" tIns="0" bIns="0">
            <a:spAutoFit/>
          </a:bodyPr>
          <a:lstStyle/>
          <a:p>
            <a:pPr>
              <a:spcAft>
                <a:spcPts val="600"/>
              </a:spcAft>
              <a:defRPr sz="1700" b="0">
                <a:solidFill>
                  <a:srgbClr val="627387"/>
                </a:solidFill>
                <a:latin typeface="Arial"/>
              </a:defRPr>
            </a:pPr>
            <a:r>
              <a:t>Ваздаев Даниил Ильич · УИБО-09-23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Один процесс вместо обзора всей компании</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Факты о назначении и разработчике: интервью Jack Levis, UPS [1]. Границы — авторские.</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02 / 15</a:t>
            </a:r>
          </a:p>
        </p:txBody>
      </p:sp>
      <p:sp>
        <p:nvSpPr>
          <p:cNvPr id="8" name="Rounded Rectangle 7"/>
          <p:cNvSpPr/>
          <p:nvPr/>
        </p:nvSpPr>
        <p:spPr>
          <a:xfrm>
            <a:off x="502920" y="1600200"/>
            <a:ext cx="3474720" cy="297180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783080"/>
            <a:ext cx="3072384"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UPS</a:t>
            </a:r>
          </a:p>
        </p:txBody>
      </p:sp>
      <p:sp>
        <p:nvSpPr>
          <p:cNvPr id="10" name="TextBox 9"/>
          <p:cNvSpPr txBox="1"/>
          <p:nvPr/>
        </p:nvSpPr>
        <p:spPr>
          <a:xfrm>
            <a:off x="704088" y="2633472"/>
            <a:ext cx="3072384" cy="1828800"/>
          </a:xfrm>
          <a:prstGeom prst="rect">
            <a:avLst/>
          </a:prstGeom>
          <a:noFill/>
        </p:spPr>
        <p:txBody>
          <a:bodyPr wrap="square" lIns="0" rIns="0" tIns="0" bIns="0">
            <a:spAutoFit/>
          </a:bodyPr>
          <a:lstStyle/>
          <a:p>
            <a:pPr>
              <a:spcAft>
                <a:spcPts val="600"/>
              </a:spcAft>
              <a:defRPr sz="2100" b="0">
                <a:solidFill>
                  <a:srgbClr val="20364D"/>
                </a:solidFill>
                <a:latin typeface="Arial"/>
              </a:defRPr>
            </a:pPr>
            <a:r>
              <a:t>Логистика и доставка</a:t>
            </a:r>
          </a:p>
          <a:p>
            <a:pPr>
              <a:spcAft>
                <a:spcPts val="600"/>
              </a:spcAft>
              <a:defRPr sz="2100" b="0">
                <a:solidFill>
                  <a:srgbClr val="20364D"/>
                </a:solidFill>
                <a:latin typeface="Arial"/>
              </a:defRPr>
            </a:pPr>
          </a:p>
          <a:p>
            <a:pPr>
              <a:spcAft>
                <a:spcPts val="600"/>
              </a:spcAft>
              <a:defRPr sz="2100" b="0">
                <a:solidFill>
                  <a:srgbClr val="20364D"/>
                </a:solidFill>
                <a:latin typeface="Arial"/>
              </a:defRPr>
            </a:pPr>
            <a:r>
              <a:t>Разработчик ORION —</a:t>
            </a:r>
          </a:p>
          <a:p>
            <a:pPr>
              <a:spcAft>
                <a:spcPts val="600"/>
              </a:spcAft>
              <a:defRPr sz="2100" b="0">
                <a:solidFill>
                  <a:srgbClr val="20364D"/>
                </a:solidFill>
                <a:latin typeface="Arial"/>
              </a:defRPr>
            </a:pPr>
            <a:r>
              <a:t>сама UPS</a:t>
            </a:r>
          </a:p>
        </p:txBody>
      </p:sp>
      <p:sp>
        <p:nvSpPr>
          <p:cNvPr id="11" name="Rounded Rectangle 10"/>
          <p:cNvSpPr/>
          <p:nvPr/>
        </p:nvSpPr>
        <p:spPr>
          <a:xfrm>
            <a:off x="4206240" y="1600200"/>
            <a:ext cx="3474720" cy="2971800"/>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7" y="1783080"/>
            <a:ext cx="3072384"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Объект анализа</a:t>
            </a:r>
          </a:p>
        </p:txBody>
      </p:sp>
      <p:sp>
        <p:nvSpPr>
          <p:cNvPr id="13" name="TextBox 12"/>
          <p:cNvSpPr txBox="1"/>
          <p:nvPr/>
        </p:nvSpPr>
        <p:spPr>
          <a:xfrm>
            <a:off x="4407407" y="2633472"/>
            <a:ext cx="3072384" cy="1828800"/>
          </a:xfrm>
          <a:prstGeom prst="rect">
            <a:avLst/>
          </a:prstGeom>
          <a:noFill/>
        </p:spPr>
        <p:txBody>
          <a:bodyPr wrap="square" lIns="0" rIns="0" tIns="0" bIns="0">
            <a:spAutoFit/>
          </a:bodyPr>
          <a:lstStyle/>
          <a:p>
            <a:pPr>
              <a:spcAft>
                <a:spcPts val="600"/>
              </a:spcAft>
              <a:defRPr sz="2100" b="0">
                <a:solidFill>
                  <a:srgbClr val="20364D"/>
                </a:solidFill>
                <a:latin typeface="Arial"/>
              </a:defRPr>
            </a:pPr>
            <a:r>
              <a:t>Дневной маршрут</a:t>
            </a:r>
          </a:p>
          <a:p>
            <a:pPr>
              <a:spcAft>
                <a:spcPts val="600"/>
              </a:spcAft>
              <a:defRPr sz="2100" b="0">
                <a:solidFill>
                  <a:srgbClr val="20364D"/>
                </a:solidFill>
                <a:latin typeface="Arial"/>
              </a:defRPr>
            </a:pPr>
            <a:r>
              <a:t>одного водителя</a:t>
            </a:r>
          </a:p>
          <a:p>
            <a:pPr>
              <a:spcAft>
                <a:spcPts val="600"/>
              </a:spcAft>
              <a:defRPr sz="2100" b="0">
                <a:solidFill>
                  <a:srgbClr val="20364D"/>
                </a:solidFill>
                <a:latin typeface="Arial"/>
              </a:defRPr>
            </a:pPr>
          </a:p>
          <a:p>
            <a:pPr>
              <a:spcAft>
                <a:spcPts val="600"/>
              </a:spcAft>
              <a:defRPr sz="2100" b="0">
                <a:solidFill>
                  <a:srgbClr val="20364D"/>
                </a:solidFill>
                <a:latin typeface="Arial"/>
              </a:defRPr>
            </a:pPr>
            <a:r>
              <a:t>Доставки + заборы</a:t>
            </a:r>
          </a:p>
        </p:txBody>
      </p:sp>
      <p:sp>
        <p:nvSpPr>
          <p:cNvPr id="14" name="Rounded Rectangle 13"/>
          <p:cNvSpPr/>
          <p:nvPr/>
        </p:nvSpPr>
        <p:spPr>
          <a:xfrm>
            <a:off x="7909560" y="1600200"/>
            <a:ext cx="3749039" cy="297180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0728" y="1783080"/>
            <a:ext cx="3346703"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Вне границ</a:t>
            </a:r>
          </a:p>
        </p:txBody>
      </p:sp>
      <p:sp>
        <p:nvSpPr>
          <p:cNvPr id="16" name="TextBox 15"/>
          <p:cNvSpPr txBox="1"/>
          <p:nvPr/>
        </p:nvSpPr>
        <p:spPr>
          <a:xfrm>
            <a:off x="8110728" y="2633472"/>
            <a:ext cx="3346703" cy="1828800"/>
          </a:xfrm>
          <a:prstGeom prst="rect">
            <a:avLst/>
          </a:prstGeom>
          <a:noFill/>
        </p:spPr>
        <p:txBody>
          <a:bodyPr wrap="square" lIns="0" rIns="0" tIns="0" bIns="0">
            <a:spAutoFit/>
          </a:bodyPr>
          <a:lstStyle/>
          <a:p>
            <a:pPr>
              <a:spcAft>
                <a:spcPts val="600"/>
              </a:spcAft>
              <a:defRPr sz="2100" b="0">
                <a:solidFill>
                  <a:srgbClr val="20364D"/>
                </a:solidFill>
                <a:latin typeface="Arial"/>
              </a:defRPr>
            </a:pPr>
            <a:r>
              <a:t>Межгород и сортировка</a:t>
            </a:r>
          </a:p>
          <a:p>
            <a:pPr>
              <a:spcAft>
                <a:spcPts val="600"/>
              </a:spcAft>
              <a:defRPr sz="2100" b="0">
                <a:solidFill>
                  <a:srgbClr val="20364D"/>
                </a:solidFill>
                <a:latin typeface="Arial"/>
              </a:defRPr>
            </a:pPr>
          </a:p>
          <a:p>
            <a:pPr>
              <a:spcAft>
                <a:spcPts val="600"/>
              </a:spcAft>
              <a:defRPr sz="2100" b="0">
                <a:solidFill>
                  <a:srgbClr val="20364D"/>
                </a:solidFill>
                <a:latin typeface="Arial"/>
              </a:defRPr>
            </a:pPr>
            <a:r>
              <a:t>Оптимизация всей сети</a:t>
            </a:r>
          </a:p>
          <a:p>
            <a:pPr>
              <a:spcAft>
                <a:spcPts val="600"/>
              </a:spcAft>
              <a:defRPr sz="2100" b="0">
                <a:solidFill>
                  <a:srgbClr val="20364D"/>
                </a:solidFill>
                <a:latin typeface="Arial"/>
              </a:defRPr>
            </a:pPr>
            <a:r>
              <a:t>и поздние версии</a:t>
            </a:r>
          </a:p>
        </p:txBody>
      </p:sp>
      <p:sp>
        <p:nvSpPr>
          <p:cNvPr id="17" name="TextBox 16"/>
          <p:cNvSpPr txBox="1"/>
          <p:nvPr/>
        </p:nvSpPr>
        <p:spPr>
          <a:xfrm>
            <a:off x="685800" y="5166360"/>
            <a:ext cx="2560320" cy="502920"/>
          </a:xfrm>
          <a:prstGeom prst="rect">
            <a:avLst/>
          </a:prstGeom>
          <a:noFill/>
        </p:spPr>
        <p:txBody>
          <a:bodyPr wrap="square" lIns="0" rIns="0" tIns="0" bIns="0">
            <a:spAutoFit/>
          </a:bodyPr>
          <a:lstStyle/>
          <a:p>
            <a:pPr>
              <a:spcAft>
                <a:spcPts val="600"/>
              </a:spcAft>
              <a:defRPr sz="2500" b="1">
                <a:solidFill>
                  <a:srgbClr val="20364D"/>
                </a:solidFill>
                <a:latin typeface="Arial"/>
              </a:defRPr>
            </a:pPr>
            <a:r>
              <a:t>Задания дня</a:t>
            </a:r>
          </a:p>
        </p:txBody>
      </p:sp>
      <p:cxnSp>
        <p:nvCxnSpPr>
          <p:cNvPr id="18" name="Connector 17"/>
          <p:cNvCxnSpPr/>
          <p:nvPr/>
        </p:nvCxnSpPr>
        <p:spPr>
          <a:xfrm>
            <a:off x="3108960" y="5394960"/>
            <a:ext cx="822960"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06240" y="5166360"/>
            <a:ext cx="3474720" cy="502920"/>
          </a:xfrm>
          <a:prstGeom prst="rect">
            <a:avLst/>
          </a:prstGeom>
          <a:noFill/>
        </p:spPr>
        <p:txBody>
          <a:bodyPr wrap="square" lIns="0" rIns="0" tIns="0" bIns="0">
            <a:spAutoFit/>
          </a:bodyPr>
          <a:lstStyle/>
          <a:p>
            <a:pPr>
              <a:spcAft>
                <a:spcPts val="600"/>
              </a:spcAft>
              <a:defRPr sz="2500" b="1">
                <a:solidFill>
                  <a:srgbClr val="247E83"/>
                </a:solidFill>
                <a:latin typeface="Arial"/>
              </a:defRPr>
            </a:pPr>
            <a:r>
              <a:t>Последовательность</a:t>
            </a:r>
          </a:p>
        </p:txBody>
      </p:sp>
      <p:cxnSp>
        <p:nvCxnSpPr>
          <p:cNvPr id="20" name="Connector 19"/>
          <p:cNvCxnSpPr/>
          <p:nvPr/>
        </p:nvCxnSpPr>
        <p:spPr>
          <a:xfrm>
            <a:off x="7726679" y="5394960"/>
            <a:ext cx="685801"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686800" y="5166360"/>
            <a:ext cx="2743200" cy="502920"/>
          </a:xfrm>
          <a:prstGeom prst="rect">
            <a:avLst/>
          </a:prstGeom>
          <a:noFill/>
        </p:spPr>
        <p:txBody>
          <a:bodyPr wrap="square" lIns="0" rIns="0" tIns="0" bIns="0">
            <a:spAutoFit/>
          </a:bodyPr>
          <a:lstStyle/>
          <a:p>
            <a:pPr>
              <a:spcAft>
                <a:spcPts val="600"/>
              </a:spcAft>
              <a:defRPr sz="2500" b="1">
                <a:solidFill>
                  <a:srgbClr val="20364D"/>
                </a:solidFill>
                <a:latin typeface="Arial"/>
              </a:defRPr>
            </a:pPr>
            <a:r>
              <a:t>Выполнение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Рост сложности делает опыт недостаточным</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Менее плотные жилые доставки и запрос на персонализацию — факты [1], Q1. Причинная схема — вывод.</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03 / 15</a:t>
            </a:r>
          </a:p>
        </p:txBody>
      </p:sp>
      <p:sp>
        <p:nvSpPr>
          <p:cNvPr id="8" name="Rounded Rectangle 7"/>
          <p:cNvSpPr/>
          <p:nvPr/>
        </p:nvSpPr>
        <p:spPr>
          <a:xfrm>
            <a:off x="502920" y="1691640"/>
            <a:ext cx="3520440" cy="3127248"/>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74520"/>
            <a:ext cx="3118104"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Меньше плотность</a:t>
            </a:r>
          </a:p>
        </p:txBody>
      </p:sp>
      <p:sp>
        <p:nvSpPr>
          <p:cNvPr id="10" name="TextBox 9"/>
          <p:cNvSpPr txBox="1"/>
          <p:nvPr/>
        </p:nvSpPr>
        <p:spPr>
          <a:xfrm>
            <a:off x="704088" y="2724912"/>
            <a:ext cx="3118104" cy="1984248"/>
          </a:xfrm>
          <a:prstGeom prst="rect">
            <a:avLst/>
          </a:prstGeom>
          <a:noFill/>
        </p:spPr>
        <p:txBody>
          <a:bodyPr wrap="square" lIns="0" rIns="0" tIns="0" bIns="0">
            <a:spAutoFit/>
          </a:bodyPr>
          <a:lstStyle/>
          <a:p>
            <a:pPr>
              <a:spcAft>
                <a:spcPts val="600"/>
              </a:spcAft>
              <a:defRPr sz="2100" b="0">
                <a:solidFill>
                  <a:srgbClr val="20364D"/>
                </a:solidFill>
                <a:latin typeface="Arial"/>
              </a:defRPr>
            </a:pPr>
            <a:r>
              <a:t>Больше расстояние</a:t>
            </a:r>
          </a:p>
          <a:p>
            <a:pPr>
              <a:spcAft>
                <a:spcPts val="600"/>
              </a:spcAft>
              <a:defRPr sz="2100" b="0">
                <a:solidFill>
                  <a:srgbClr val="20364D"/>
                </a:solidFill>
                <a:latin typeface="Arial"/>
              </a:defRPr>
            </a:pPr>
            <a:r>
              <a:t>между остановками</a:t>
            </a:r>
          </a:p>
        </p:txBody>
      </p:sp>
      <p:sp>
        <p:nvSpPr>
          <p:cNvPr id="11" name="Rounded Rectangle 10"/>
          <p:cNvSpPr/>
          <p:nvPr/>
        </p:nvSpPr>
        <p:spPr>
          <a:xfrm>
            <a:off x="4279392" y="1691640"/>
            <a:ext cx="3520440" cy="3127248"/>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59" y="1874520"/>
            <a:ext cx="3118104"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Больше условий</a:t>
            </a:r>
          </a:p>
        </p:txBody>
      </p:sp>
      <p:sp>
        <p:nvSpPr>
          <p:cNvPr id="13" name="TextBox 12"/>
          <p:cNvSpPr txBox="1"/>
          <p:nvPr/>
        </p:nvSpPr>
        <p:spPr>
          <a:xfrm>
            <a:off x="4480559" y="2724912"/>
            <a:ext cx="3118104" cy="1984248"/>
          </a:xfrm>
          <a:prstGeom prst="rect">
            <a:avLst/>
          </a:prstGeom>
          <a:noFill/>
        </p:spPr>
        <p:txBody>
          <a:bodyPr wrap="square" lIns="0" rIns="0" tIns="0" bIns="0">
            <a:spAutoFit/>
          </a:bodyPr>
          <a:lstStyle/>
          <a:p>
            <a:pPr>
              <a:spcAft>
                <a:spcPts val="600"/>
              </a:spcAft>
              <a:defRPr sz="2100" b="0">
                <a:solidFill>
                  <a:srgbClr val="20364D"/>
                </a:solidFill>
                <a:latin typeface="Arial"/>
              </a:defRPr>
            </a:pPr>
            <a:r>
              <a:t>Ожидания клиентов</a:t>
            </a:r>
          </a:p>
          <a:p>
            <a:pPr>
              <a:spcAft>
                <a:spcPts val="600"/>
              </a:spcAft>
              <a:defRPr sz="2100" b="0">
                <a:solidFill>
                  <a:srgbClr val="20364D"/>
                </a:solidFill>
                <a:latin typeface="Arial"/>
              </a:defRPr>
            </a:pPr>
            <a:r>
              <a:t>и требования сервиса</a:t>
            </a:r>
          </a:p>
        </p:txBody>
      </p:sp>
      <p:sp>
        <p:nvSpPr>
          <p:cNvPr id="14" name="Rounded Rectangle 13"/>
          <p:cNvSpPr/>
          <p:nvPr/>
        </p:nvSpPr>
        <p:spPr>
          <a:xfrm>
            <a:off x="8055864" y="1691640"/>
            <a:ext cx="3611880" cy="3127248"/>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2" y="1874520"/>
            <a:ext cx="3209544"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Сложнее выбор</a:t>
            </a:r>
          </a:p>
        </p:txBody>
      </p:sp>
      <p:sp>
        <p:nvSpPr>
          <p:cNvPr id="16" name="TextBox 15"/>
          <p:cNvSpPr txBox="1"/>
          <p:nvPr/>
        </p:nvSpPr>
        <p:spPr>
          <a:xfrm>
            <a:off x="8257032" y="2724912"/>
            <a:ext cx="3209544" cy="1984248"/>
          </a:xfrm>
          <a:prstGeom prst="rect">
            <a:avLst/>
          </a:prstGeom>
          <a:noFill/>
        </p:spPr>
        <p:txBody>
          <a:bodyPr wrap="square" lIns="0" rIns="0" tIns="0" bIns="0">
            <a:spAutoFit/>
          </a:bodyPr>
          <a:lstStyle/>
          <a:p>
            <a:pPr>
              <a:spcAft>
                <a:spcPts val="600"/>
              </a:spcAft>
              <a:defRPr sz="2100" b="0">
                <a:solidFill>
                  <a:srgbClr val="20364D"/>
                </a:solidFill>
                <a:latin typeface="Arial"/>
              </a:defRPr>
            </a:pPr>
            <a:r>
              <a:t>Снизить пробег,</a:t>
            </a:r>
          </a:p>
          <a:p>
            <a:pPr>
              <a:spcAft>
                <a:spcPts val="600"/>
              </a:spcAft>
              <a:defRPr sz="2100" b="0">
                <a:solidFill>
                  <a:srgbClr val="20364D"/>
                </a:solidFill>
                <a:latin typeface="Arial"/>
              </a:defRPr>
            </a:pPr>
            <a:r>
              <a:t>сохранив обслуживание</a:t>
            </a:r>
          </a:p>
        </p:txBody>
      </p:sp>
      <p:sp>
        <p:nvSpPr>
          <p:cNvPr id="17" name="Rounded Rectangle 16"/>
          <p:cNvSpPr/>
          <p:nvPr/>
        </p:nvSpPr>
        <p:spPr>
          <a:xfrm>
            <a:off x="502920" y="5239512"/>
            <a:ext cx="11155680" cy="640080"/>
          </a:xfrm>
          <a:prstGeom prst="roundRect">
            <a:avLst>
              <a:gd name="adj" fmla="val 13000"/>
            </a:avLst>
          </a:prstGeom>
          <a:solidFill>
            <a:srgbClr val="203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404104"/>
            <a:ext cx="10652760" cy="356616"/>
          </a:xfrm>
          <a:prstGeom prst="rect">
            <a:avLst/>
          </a:prstGeom>
          <a:noFill/>
        </p:spPr>
        <p:txBody>
          <a:bodyPr wrap="square" lIns="0" rIns="0" tIns="0" bIns="0">
            <a:spAutoFit/>
          </a:bodyPr>
          <a:lstStyle/>
          <a:p>
            <a:pPr>
              <a:spcAft>
                <a:spcPts val="600"/>
              </a:spcAft>
              <a:defRPr sz="2200" b="1">
                <a:solidFill>
                  <a:srgbClr val="FFFFFF"/>
                </a:solidFill>
                <a:latin typeface="Arial"/>
              </a:defRPr>
            </a:pPr>
            <a:r>
              <a:t>Задача ИС — улучшить решение, а не просто оцифровать работу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AS-IS: порядок уточняет человек</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Реконструкция [1]. Укрупнённая схема; подробная Activity Diagram — diagrams/as_is.puml</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04 / 15</a:t>
            </a:r>
          </a:p>
        </p:txBody>
      </p:sp>
      <p:sp>
        <p:nvSpPr>
          <p:cNvPr id="8" name="Rounded Rectangle 7"/>
          <p:cNvSpPr/>
          <p:nvPr/>
        </p:nvSpPr>
        <p:spPr>
          <a:xfrm>
            <a:off x="502920" y="1426464"/>
            <a:ext cx="4206240" cy="384048"/>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504188"/>
            <a:ext cx="3986783" cy="228600"/>
          </a:xfrm>
          <a:prstGeom prst="rect">
            <a:avLst/>
          </a:prstGeom>
          <a:noFill/>
        </p:spPr>
        <p:txBody>
          <a:bodyPr wrap="square" lIns="0" rIns="0" tIns="0" bIns="0">
            <a:spAutoFit/>
          </a:bodyPr>
          <a:lstStyle/>
          <a:p>
            <a:pPr>
              <a:spcAft>
                <a:spcPts val="600"/>
              </a:spcAft>
              <a:defRPr sz="1200" b="1">
                <a:solidFill>
                  <a:srgbClr val="627387"/>
                </a:solidFill>
                <a:latin typeface="Arial"/>
              </a:defRPr>
            </a:pPr>
            <a:r>
              <a:t>ТЕ ЖЕ ВХОДЫ И ГРАНИЦЫ ПРОЦЕССА</a:t>
            </a:r>
          </a:p>
        </p:txBody>
      </p:sp>
      <p:sp>
        <p:nvSpPr>
          <p:cNvPr id="10" name="TextBox 9"/>
          <p:cNvSpPr txBox="1"/>
          <p:nvPr/>
        </p:nvSpPr>
        <p:spPr>
          <a:xfrm>
            <a:off x="502920" y="1938528"/>
            <a:ext cx="2039112" cy="256032"/>
          </a:xfrm>
          <a:prstGeom prst="rect">
            <a:avLst/>
          </a:prstGeom>
          <a:noFill/>
        </p:spPr>
        <p:txBody>
          <a:bodyPr wrap="square" lIns="0" rIns="0" tIns="0" bIns="0">
            <a:spAutoFit/>
          </a:bodyPr>
          <a:lstStyle/>
          <a:p>
            <a:pPr>
              <a:spcAft>
                <a:spcPts val="600"/>
              </a:spcAft>
              <a:defRPr sz="1500" b="1">
                <a:solidFill>
                  <a:srgbClr val="627387"/>
                </a:solidFill>
                <a:latin typeface="Arial"/>
              </a:defRPr>
            </a:pPr>
            <a:r>
              <a:t>PFT</a:t>
            </a:r>
          </a:p>
        </p:txBody>
      </p:sp>
      <p:sp>
        <p:nvSpPr>
          <p:cNvPr id="11" name="Rounded Rectangle 10"/>
          <p:cNvSpPr/>
          <p:nvPr/>
        </p:nvSpPr>
        <p:spPr>
          <a:xfrm>
            <a:off x="502920" y="2286000"/>
            <a:ext cx="2039112" cy="137160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624328"/>
            <a:ext cx="1819656" cy="914400"/>
          </a:xfrm>
          <a:prstGeom prst="rect">
            <a:avLst/>
          </a:prstGeom>
          <a:noFill/>
        </p:spPr>
        <p:txBody>
          <a:bodyPr wrap="square" lIns="0" rIns="0" tIns="0" bIns="0">
            <a:spAutoFit/>
          </a:bodyPr>
          <a:lstStyle/>
          <a:p>
            <a:pPr>
              <a:spcAft>
                <a:spcPts val="600"/>
              </a:spcAft>
              <a:defRPr sz="2000" b="1">
                <a:solidFill>
                  <a:srgbClr val="20364D"/>
                </a:solidFill>
                <a:latin typeface="Arial"/>
              </a:defRPr>
            </a:pPr>
            <a:r>
              <a:t>Задания</a:t>
            </a:r>
          </a:p>
          <a:p>
            <a:pPr>
              <a:spcAft>
                <a:spcPts val="600"/>
              </a:spcAft>
              <a:defRPr sz="2000" b="1">
                <a:solidFill>
                  <a:srgbClr val="20364D"/>
                </a:solidFill>
                <a:latin typeface="Arial"/>
              </a:defRPr>
            </a:pPr>
            <a:r>
              <a:t>и условия</a:t>
            </a:r>
          </a:p>
        </p:txBody>
      </p:sp>
      <p:cxnSp>
        <p:nvCxnSpPr>
          <p:cNvPr id="13" name="Connector 12"/>
          <p:cNvCxnSpPr/>
          <p:nvPr/>
        </p:nvCxnSpPr>
        <p:spPr>
          <a:xfrm>
            <a:off x="2542032" y="2962656"/>
            <a:ext cx="210312"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70632" y="1938528"/>
            <a:ext cx="2039112" cy="256032"/>
          </a:xfrm>
          <a:prstGeom prst="rect">
            <a:avLst/>
          </a:prstGeom>
          <a:noFill/>
        </p:spPr>
        <p:txBody>
          <a:bodyPr wrap="square" lIns="0" rIns="0" tIns="0" bIns="0">
            <a:spAutoFit/>
          </a:bodyPr>
          <a:lstStyle/>
          <a:p>
            <a:pPr>
              <a:spcAft>
                <a:spcPts val="600"/>
              </a:spcAft>
              <a:defRPr sz="1500" b="1">
                <a:solidFill>
                  <a:srgbClr val="627387"/>
                </a:solidFill>
                <a:latin typeface="Arial"/>
              </a:defRPr>
            </a:pPr>
            <a:r>
              <a:t>Планировщик</a:t>
            </a:r>
          </a:p>
        </p:txBody>
      </p:sp>
      <p:sp>
        <p:nvSpPr>
          <p:cNvPr id="15" name="Rounded Rectangle 14"/>
          <p:cNvSpPr/>
          <p:nvPr/>
        </p:nvSpPr>
        <p:spPr>
          <a:xfrm>
            <a:off x="2770632" y="2286000"/>
            <a:ext cx="2039112" cy="137160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80360" y="2624328"/>
            <a:ext cx="1819656" cy="914400"/>
          </a:xfrm>
          <a:prstGeom prst="rect">
            <a:avLst/>
          </a:prstGeom>
          <a:noFill/>
        </p:spPr>
        <p:txBody>
          <a:bodyPr wrap="square" lIns="0" rIns="0" tIns="0" bIns="0">
            <a:spAutoFit/>
          </a:bodyPr>
          <a:lstStyle/>
          <a:p>
            <a:pPr>
              <a:spcAft>
                <a:spcPts val="600"/>
              </a:spcAft>
              <a:defRPr sz="2000" b="1">
                <a:solidFill>
                  <a:srgbClr val="20364D"/>
                </a:solidFill>
                <a:latin typeface="Arial"/>
              </a:defRPr>
            </a:pPr>
            <a:r>
              <a:t>Проверка</a:t>
            </a:r>
          </a:p>
          <a:p>
            <a:pPr>
              <a:spcAft>
                <a:spcPts val="600"/>
              </a:spcAft>
              <a:defRPr sz="2000" b="1">
                <a:solidFill>
                  <a:srgbClr val="20364D"/>
                </a:solidFill>
                <a:latin typeface="Arial"/>
              </a:defRPr>
            </a:pPr>
            <a:r>
              <a:t>заданий</a:t>
            </a:r>
          </a:p>
        </p:txBody>
      </p:sp>
      <p:cxnSp>
        <p:nvCxnSpPr>
          <p:cNvPr id="17" name="Connector 16"/>
          <p:cNvCxnSpPr/>
          <p:nvPr/>
        </p:nvCxnSpPr>
        <p:spPr>
          <a:xfrm>
            <a:off x="4809744" y="2962656"/>
            <a:ext cx="210312"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38344" y="1938528"/>
            <a:ext cx="2039112" cy="256032"/>
          </a:xfrm>
          <a:prstGeom prst="rect">
            <a:avLst/>
          </a:prstGeom>
          <a:noFill/>
        </p:spPr>
        <p:txBody>
          <a:bodyPr wrap="square" lIns="0" rIns="0" tIns="0" bIns="0">
            <a:spAutoFit/>
          </a:bodyPr>
          <a:lstStyle/>
          <a:p>
            <a:pPr>
              <a:spcAft>
                <a:spcPts val="600"/>
              </a:spcAft>
              <a:defRPr sz="1500" b="1">
                <a:solidFill>
                  <a:srgbClr val="627387"/>
                </a:solidFill>
                <a:latin typeface="Arial"/>
              </a:defRPr>
            </a:pPr>
            <a:r>
              <a:t>Водитель</a:t>
            </a:r>
          </a:p>
        </p:txBody>
      </p:sp>
      <p:sp>
        <p:nvSpPr>
          <p:cNvPr id="19" name="Rounded Rectangle 18"/>
          <p:cNvSpPr/>
          <p:nvPr/>
        </p:nvSpPr>
        <p:spPr>
          <a:xfrm>
            <a:off x="5038344" y="2286000"/>
            <a:ext cx="2039112" cy="137160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48072" y="2624328"/>
            <a:ext cx="1819656" cy="914400"/>
          </a:xfrm>
          <a:prstGeom prst="rect">
            <a:avLst/>
          </a:prstGeom>
          <a:noFill/>
        </p:spPr>
        <p:txBody>
          <a:bodyPr wrap="square" lIns="0" rIns="0" tIns="0" bIns="0">
            <a:spAutoFit/>
          </a:bodyPr>
          <a:lstStyle/>
          <a:p>
            <a:pPr>
              <a:spcAft>
                <a:spcPts val="600"/>
              </a:spcAft>
              <a:defRPr sz="2000" b="1">
                <a:solidFill>
                  <a:srgbClr val="20364D"/>
                </a:solidFill>
                <a:latin typeface="Arial"/>
              </a:defRPr>
            </a:pPr>
            <a:r>
              <a:t>Порядок</a:t>
            </a:r>
          </a:p>
          <a:p>
            <a:pPr>
              <a:spcAft>
                <a:spcPts val="600"/>
              </a:spcAft>
              <a:defRPr sz="2000" b="1">
                <a:solidFill>
                  <a:srgbClr val="20364D"/>
                </a:solidFill>
                <a:latin typeface="Arial"/>
              </a:defRPr>
            </a:pPr>
            <a:r>
              <a:t>по опыту</a:t>
            </a:r>
          </a:p>
        </p:txBody>
      </p:sp>
      <p:cxnSp>
        <p:nvCxnSpPr>
          <p:cNvPr id="21" name="Connector 20"/>
          <p:cNvCxnSpPr/>
          <p:nvPr/>
        </p:nvCxnSpPr>
        <p:spPr>
          <a:xfrm>
            <a:off x="7077456" y="2962656"/>
            <a:ext cx="210312"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06055" y="1938528"/>
            <a:ext cx="2039112" cy="256032"/>
          </a:xfrm>
          <a:prstGeom prst="rect">
            <a:avLst/>
          </a:prstGeom>
          <a:noFill/>
        </p:spPr>
        <p:txBody>
          <a:bodyPr wrap="square" lIns="0" rIns="0" tIns="0" bIns="0">
            <a:spAutoFit/>
          </a:bodyPr>
          <a:lstStyle/>
          <a:p>
            <a:pPr>
              <a:spcAft>
                <a:spcPts val="600"/>
              </a:spcAft>
              <a:defRPr sz="1500" b="1">
                <a:solidFill>
                  <a:srgbClr val="627387"/>
                </a:solidFill>
                <a:latin typeface="Arial"/>
              </a:defRPr>
            </a:pPr>
            <a:r>
              <a:t>Водитель</a:t>
            </a:r>
          </a:p>
        </p:txBody>
      </p:sp>
      <p:sp>
        <p:nvSpPr>
          <p:cNvPr id="23" name="Rounded Rectangle 22"/>
          <p:cNvSpPr/>
          <p:nvPr/>
        </p:nvSpPr>
        <p:spPr>
          <a:xfrm>
            <a:off x="7306055" y="2286000"/>
            <a:ext cx="2039112" cy="137160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5783" y="2624328"/>
            <a:ext cx="1819656" cy="914400"/>
          </a:xfrm>
          <a:prstGeom prst="rect">
            <a:avLst/>
          </a:prstGeom>
          <a:noFill/>
        </p:spPr>
        <p:txBody>
          <a:bodyPr wrap="square" lIns="0" rIns="0" tIns="0" bIns="0">
            <a:spAutoFit/>
          </a:bodyPr>
          <a:lstStyle/>
          <a:p>
            <a:pPr>
              <a:spcAft>
                <a:spcPts val="600"/>
              </a:spcAft>
              <a:defRPr sz="2000" b="1">
                <a:solidFill>
                  <a:srgbClr val="20364D"/>
                </a:solidFill>
                <a:latin typeface="Arial"/>
              </a:defRPr>
            </a:pPr>
            <a:r>
              <a:t>Доставка</a:t>
            </a:r>
          </a:p>
          <a:p>
            <a:pPr>
              <a:spcAft>
                <a:spcPts val="600"/>
              </a:spcAft>
              <a:defRPr sz="2000" b="1">
                <a:solidFill>
                  <a:srgbClr val="20364D"/>
                </a:solidFill>
                <a:latin typeface="Arial"/>
              </a:defRPr>
            </a:pPr>
            <a:r>
              <a:t>отправлений</a:t>
            </a:r>
          </a:p>
        </p:txBody>
      </p:sp>
      <p:cxnSp>
        <p:nvCxnSpPr>
          <p:cNvPr id="25" name="Connector 24"/>
          <p:cNvCxnSpPr/>
          <p:nvPr/>
        </p:nvCxnSpPr>
        <p:spPr>
          <a:xfrm>
            <a:off x="9345167" y="2962656"/>
            <a:ext cx="210313"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573768" y="1938528"/>
            <a:ext cx="2039112" cy="256032"/>
          </a:xfrm>
          <a:prstGeom prst="rect">
            <a:avLst/>
          </a:prstGeom>
          <a:noFill/>
        </p:spPr>
        <p:txBody>
          <a:bodyPr wrap="square" lIns="0" rIns="0" tIns="0" bIns="0">
            <a:spAutoFit/>
          </a:bodyPr>
          <a:lstStyle/>
          <a:p>
            <a:pPr>
              <a:spcAft>
                <a:spcPts val="600"/>
              </a:spcAft>
              <a:defRPr sz="1500" b="1">
                <a:solidFill>
                  <a:srgbClr val="627387"/>
                </a:solidFill>
                <a:latin typeface="Arial"/>
              </a:defRPr>
            </a:pPr>
            <a:r>
              <a:t>Водитель / ИС</a:t>
            </a:r>
          </a:p>
        </p:txBody>
      </p:sp>
      <p:sp>
        <p:nvSpPr>
          <p:cNvPr id="27" name="Rounded Rectangle 26"/>
          <p:cNvSpPr/>
          <p:nvPr/>
        </p:nvSpPr>
        <p:spPr>
          <a:xfrm>
            <a:off x="9573768" y="2286000"/>
            <a:ext cx="2039112" cy="137160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83496" y="2624328"/>
            <a:ext cx="1819656" cy="914400"/>
          </a:xfrm>
          <a:prstGeom prst="rect">
            <a:avLst/>
          </a:prstGeom>
          <a:noFill/>
        </p:spPr>
        <p:txBody>
          <a:bodyPr wrap="square" lIns="0" rIns="0" tIns="0" bIns="0">
            <a:spAutoFit/>
          </a:bodyPr>
          <a:lstStyle/>
          <a:p>
            <a:pPr>
              <a:spcAft>
                <a:spcPts val="600"/>
              </a:spcAft>
              <a:defRPr sz="2000" b="1">
                <a:solidFill>
                  <a:srgbClr val="20364D"/>
                </a:solidFill>
                <a:latin typeface="Arial"/>
              </a:defRPr>
            </a:pPr>
            <a:r>
              <a:t>Результаты</a:t>
            </a:r>
          </a:p>
          <a:p>
            <a:pPr>
              <a:spcAft>
                <a:spcPts val="600"/>
              </a:spcAft>
              <a:defRPr sz="2000" b="1">
                <a:solidFill>
                  <a:srgbClr val="20364D"/>
                </a:solidFill>
                <a:latin typeface="Arial"/>
              </a:defRPr>
            </a:pPr>
            <a:r>
              <a:t>выполнения</a:t>
            </a:r>
          </a:p>
        </p:txBody>
      </p:sp>
      <p:sp>
        <p:nvSpPr>
          <p:cNvPr id="29" name="Rounded Rectangle 28"/>
          <p:cNvSpPr/>
          <p:nvPr/>
        </p:nvSpPr>
        <p:spPr>
          <a:xfrm>
            <a:off x="502920" y="4270248"/>
            <a:ext cx="5166360" cy="1179576"/>
          </a:xfrm>
          <a:prstGeom prst="roundRect">
            <a:avLst>
              <a:gd name="adj" fmla="val 13000"/>
            </a:avLst>
          </a:prstGeom>
          <a:solidFill>
            <a:srgbClr val="FFF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434840"/>
            <a:ext cx="4754880" cy="347472"/>
          </a:xfrm>
          <a:prstGeom prst="rect">
            <a:avLst/>
          </a:prstGeom>
          <a:noFill/>
        </p:spPr>
        <p:txBody>
          <a:bodyPr wrap="square" lIns="0" rIns="0" tIns="0" bIns="0">
            <a:spAutoFit/>
          </a:bodyPr>
          <a:lstStyle/>
          <a:p>
            <a:pPr>
              <a:spcAft>
                <a:spcPts val="600"/>
              </a:spcAft>
              <a:defRPr sz="2000" b="1">
                <a:solidFill>
                  <a:srgbClr val="20364D"/>
                </a:solidFill>
                <a:latin typeface="Arial"/>
              </a:defRPr>
            </a:pPr>
            <a:r>
              <a:t>Узкое место: ручной выбор порядка</a:t>
            </a:r>
          </a:p>
        </p:txBody>
      </p:sp>
      <p:sp>
        <p:nvSpPr>
          <p:cNvPr id="31" name="TextBox 30"/>
          <p:cNvSpPr txBox="1"/>
          <p:nvPr/>
        </p:nvSpPr>
        <p:spPr>
          <a:xfrm>
            <a:off x="685800" y="4864608"/>
            <a:ext cx="4754880" cy="365760"/>
          </a:xfrm>
          <a:prstGeom prst="rect">
            <a:avLst/>
          </a:prstGeom>
          <a:noFill/>
        </p:spPr>
        <p:txBody>
          <a:bodyPr wrap="square" lIns="0" rIns="0" tIns="0" bIns="0">
            <a:spAutoFit/>
          </a:bodyPr>
          <a:lstStyle/>
          <a:p>
            <a:pPr>
              <a:spcAft>
                <a:spcPts val="600"/>
              </a:spcAft>
              <a:defRPr sz="1900" b="0">
                <a:solidFill>
                  <a:srgbClr val="20364D"/>
                </a:solidFill>
                <a:latin typeface="Arial"/>
              </a:defRPr>
            </a:pPr>
            <a:r>
              <a:t>Не все варианты удается сопоставить</a:t>
            </a:r>
          </a:p>
        </p:txBody>
      </p:sp>
      <p:sp>
        <p:nvSpPr>
          <p:cNvPr id="32" name="Rounded Rectangle 31"/>
          <p:cNvSpPr/>
          <p:nvPr/>
        </p:nvSpPr>
        <p:spPr>
          <a:xfrm>
            <a:off x="5989320" y="4270248"/>
            <a:ext cx="5696712" cy="1179576"/>
          </a:xfrm>
          <a:prstGeom prst="roundRect">
            <a:avLst>
              <a:gd name="adj" fmla="val 13000"/>
            </a:avLst>
          </a:prstGeom>
          <a:solidFill>
            <a:srgbClr val="FFF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72200" y="4434840"/>
            <a:ext cx="5303520" cy="347472"/>
          </a:xfrm>
          <a:prstGeom prst="rect">
            <a:avLst/>
          </a:prstGeom>
          <a:noFill/>
        </p:spPr>
        <p:txBody>
          <a:bodyPr wrap="square" lIns="0" rIns="0" tIns="0" bIns="0">
            <a:spAutoFit/>
          </a:bodyPr>
          <a:lstStyle/>
          <a:p>
            <a:pPr>
              <a:spcAft>
                <a:spcPts val="600"/>
              </a:spcAft>
              <a:defRPr sz="2000" b="1">
                <a:solidFill>
                  <a:srgbClr val="20364D"/>
                </a:solidFill>
                <a:latin typeface="Arial"/>
              </a:defRPr>
            </a:pPr>
            <a:r>
              <a:t>Отклонение → повторное решение</a:t>
            </a:r>
          </a:p>
        </p:txBody>
      </p:sp>
      <p:sp>
        <p:nvSpPr>
          <p:cNvPr id="34" name="TextBox 33"/>
          <p:cNvSpPr txBox="1"/>
          <p:nvPr/>
        </p:nvSpPr>
        <p:spPr>
          <a:xfrm>
            <a:off x="6172200" y="4864608"/>
            <a:ext cx="5303520" cy="365760"/>
          </a:xfrm>
          <a:prstGeom prst="rect">
            <a:avLst/>
          </a:prstGeom>
          <a:noFill/>
        </p:spPr>
        <p:txBody>
          <a:bodyPr wrap="square" lIns="0" rIns="0" tIns="0" bIns="0">
            <a:spAutoFit/>
          </a:bodyPr>
          <a:lstStyle/>
          <a:p>
            <a:pPr>
              <a:spcAft>
                <a:spcPts val="600"/>
              </a:spcAft>
              <a:defRPr sz="1900" b="0">
                <a:solidFill>
                  <a:srgbClr val="20364D"/>
                </a:solidFill>
                <a:latin typeface="Arial"/>
              </a:defRPr>
            </a:pPr>
            <a:r>
              <a:t>Риск лишнего пробега и задержки</a:t>
            </a:r>
          </a:p>
        </p:txBody>
      </p:sp>
      <p:cxnSp>
        <p:nvCxnSpPr>
          <p:cNvPr id="35" name="Connector 34"/>
          <p:cNvCxnSpPr/>
          <p:nvPr/>
        </p:nvCxnSpPr>
        <p:spPr>
          <a:xfrm>
            <a:off x="8339327" y="3657600"/>
            <a:ext cx="0" cy="585216"/>
          </a:xfrm>
          <a:prstGeom prst="line">
            <a:avLst/>
          </a:prstGeom>
          <a:ln w="25400">
            <a:solidFill>
              <a:srgbClr val="C88C30"/>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971032" y="3703320"/>
            <a:ext cx="0" cy="1161288"/>
          </a:xfrm>
          <a:prstGeom prst="line">
            <a:avLst/>
          </a:prstGeom>
          <a:ln w="25400">
            <a:solidFill>
              <a:srgbClr val="C88C30"/>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02920" y="5852160"/>
            <a:ext cx="11064240" cy="347472"/>
          </a:xfrm>
          <a:prstGeom prst="rect">
            <a:avLst/>
          </a:prstGeom>
          <a:noFill/>
        </p:spPr>
        <p:txBody>
          <a:bodyPr wrap="square" lIns="0" rIns="0" tIns="0" bIns="0">
            <a:spAutoFit/>
          </a:bodyPr>
          <a:lstStyle/>
          <a:p>
            <a:pPr>
              <a:spcAft>
                <a:spcPts val="600"/>
              </a:spcAft>
              <a:defRPr sz="2100" b="1">
                <a:solidFill>
                  <a:srgbClr val="247E83"/>
                </a:solidFill>
                <a:latin typeface="Arial"/>
              </a:defRPr>
            </a:pPr>
            <a:r>
              <a:t>До ORION уже была PFT. Это не переход «с бумаги в компьютер».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Каждой проблеме — проверяемое требование</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Основания: данные, стабильность маршрута и управление изменениями [1], Q4–Q7. Требования — реконструкция.</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05 / 15</a:t>
            </a:r>
          </a:p>
        </p:txBody>
      </p:sp>
      <p:sp>
        <p:nvSpPr>
          <p:cNvPr id="8" name="TextBox 7"/>
          <p:cNvSpPr txBox="1"/>
          <p:nvPr/>
        </p:nvSpPr>
        <p:spPr>
          <a:xfrm>
            <a:off x="685800" y="1627632"/>
            <a:ext cx="3291840" cy="320040"/>
          </a:xfrm>
          <a:prstGeom prst="rect">
            <a:avLst/>
          </a:prstGeom>
          <a:noFill/>
        </p:spPr>
        <p:txBody>
          <a:bodyPr wrap="square" lIns="0" rIns="0" tIns="0" bIns="0">
            <a:spAutoFit/>
          </a:bodyPr>
          <a:lstStyle/>
          <a:p>
            <a:pPr>
              <a:spcAft>
                <a:spcPts val="600"/>
              </a:spcAft>
              <a:defRPr sz="1600" b="1">
                <a:solidFill>
                  <a:srgbClr val="627387"/>
                </a:solidFill>
                <a:latin typeface="Arial"/>
              </a:defRPr>
            </a:pPr>
            <a:r>
              <a:t>ПРОБЛЕМА</a:t>
            </a:r>
          </a:p>
        </p:txBody>
      </p:sp>
      <p:sp>
        <p:nvSpPr>
          <p:cNvPr id="9" name="TextBox 8"/>
          <p:cNvSpPr txBox="1"/>
          <p:nvPr/>
        </p:nvSpPr>
        <p:spPr>
          <a:xfrm>
            <a:off x="4389120" y="1627632"/>
            <a:ext cx="3291840" cy="320040"/>
          </a:xfrm>
          <a:prstGeom prst="rect">
            <a:avLst/>
          </a:prstGeom>
          <a:noFill/>
        </p:spPr>
        <p:txBody>
          <a:bodyPr wrap="square" lIns="0" rIns="0" tIns="0" bIns="0">
            <a:spAutoFit/>
          </a:bodyPr>
          <a:lstStyle/>
          <a:p>
            <a:pPr>
              <a:spcAft>
                <a:spcPts val="600"/>
              </a:spcAft>
              <a:defRPr sz="1600" b="1">
                <a:solidFill>
                  <a:srgbClr val="627387"/>
                </a:solidFill>
                <a:latin typeface="Arial"/>
              </a:defRPr>
            </a:pPr>
            <a:r>
              <a:t>ТРЕБОВАНИЕ</a:t>
            </a:r>
          </a:p>
        </p:txBody>
      </p:sp>
      <p:sp>
        <p:nvSpPr>
          <p:cNvPr id="10" name="TextBox 9"/>
          <p:cNvSpPr txBox="1"/>
          <p:nvPr/>
        </p:nvSpPr>
        <p:spPr>
          <a:xfrm>
            <a:off x="8092440" y="1627632"/>
            <a:ext cx="3291840" cy="320040"/>
          </a:xfrm>
          <a:prstGeom prst="rect">
            <a:avLst/>
          </a:prstGeom>
          <a:noFill/>
        </p:spPr>
        <p:txBody>
          <a:bodyPr wrap="square" lIns="0" rIns="0" tIns="0" bIns="0">
            <a:spAutoFit/>
          </a:bodyPr>
          <a:lstStyle/>
          <a:p>
            <a:pPr>
              <a:spcAft>
                <a:spcPts val="600"/>
              </a:spcAft>
              <a:defRPr sz="1600" b="1">
                <a:solidFill>
                  <a:srgbClr val="627387"/>
                </a:solidFill>
                <a:latin typeface="Arial"/>
              </a:defRPr>
            </a:pPr>
            <a:r>
              <a:t>ЧТО ПРОВЕРЯЕМ</a:t>
            </a:r>
          </a:p>
        </p:txBody>
      </p:sp>
      <p:sp>
        <p:nvSpPr>
          <p:cNvPr id="11" name="Rounded Rectangle 10"/>
          <p:cNvSpPr/>
          <p:nvPr/>
        </p:nvSpPr>
        <p:spPr>
          <a:xfrm>
            <a:off x="502920" y="2194560"/>
            <a:ext cx="11155680" cy="886968"/>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95728"/>
            <a:ext cx="3273552" cy="603504"/>
          </a:xfrm>
          <a:prstGeom prst="rect">
            <a:avLst/>
          </a:prstGeom>
          <a:noFill/>
        </p:spPr>
        <p:txBody>
          <a:bodyPr wrap="square" lIns="0" rIns="0" tIns="0" bIns="0">
            <a:spAutoFit/>
          </a:bodyPr>
          <a:lstStyle/>
          <a:p>
            <a:pPr>
              <a:spcAft>
                <a:spcPts val="600"/>
              </a:spcAft>
              <a:defRPr sz="2100" b="1">
                <a:solidFill>
                  <a:srgbClr val="20364D"/>
                </a:solidFill>
                <a:latin typeface="Arial"/>
              </a:defRPr>
            </a:pPr>
            <a:r>
              <a:t>Ручное сравнение</a:t>
            </a:r>
          </a:p>
        </p:txBody>
      </p:sp>
      <p:sp>
        <p:nvSpPr>
          <p:cNvPr id="13" name="TextBox 12"/>
          <p:cNvSpPr txBox="1"/>
          <p:nvPr/>
        </p:nvSpPr>
        <p:spPr>
          <a:xfrm>
            <a:off x="4389120" y="2395728"/>
            <a:ext cx="3273552" cy="603504"/>
          </a:xfrm>
          <a:prstGeom prst="rect">
            <a:avLst/>
          </a:prstGeom>
          <a:noFill/>
        </p:spPr>
        <p:txBody>
          <a:bodyPr wrap="square" lIns="0" rIns="0" tIns="0" bIns="0">
            <a:spAutoFit/>
          </a:bodyPr>
          <a:lstStyle/>
          <a:p>
            <a:pPr>
              <a:spcAft>
                <a:spcPts val="600"/>
              </a:spcAft>
              <a:defRPr sz="2100" b="0">
                <a:solidFill>
                  <a:srgbClr val="20364D"/>
                </a:solidFill>
                <a:latin typeface="Arial"/>
              </a:defRPr>
            </a:pPr>
            <a:r>
              <a:t>Оптимизация с ограничениями</a:t>
            </a:r>
          </a:p>
        </p:txBody>
      </p:sp>
      <p:sp>
        <p:nvSpPr>
          <p:cNvPr id="14" name="TextBox 13"/>
          <p:cNvSpPr txBox="1"/>
          <p:nvPr/>
        </p:nvSpPr>
        <p:spPr>
          <a:xfrm>
            <a:off x="8092440" y="2395728"/>
            <a:ext cx="3273552" cy="603504"/>
          </a:xfrm>
          <a:prstGeom prst="rect">
            <a:avLst/>
          </a:prstGeom>
          <a:noFill/>
        </p:spPr>
        <p:txBody>
          <a:bodyPr wrap="square" lIns="0" rIns="0" tIns="0" bIns="0">
            <a:spAutoFit/>
          </a:bodyPr>
          <a:lstStyle/>
          <a:p>
            <a:pPr>
              <a:spcAft>
                <a:spcPts val="600"/>
              </a:spcAft>
              <a:defRPr sz="2100" b="0">
                <a:solidFill>
                  <a:srgbClr val="20364D"/>
                </a:solidFill>
                <a:latin typeface="Arial"/>
              </a:defRPr>
            </a:pPr>
            <a:r>
              <a:t>Пробег при том же задании</a:t>
            </a:r>
          </a:p>
        </p:txBody>
      </p:sp>
      <p:sp>
        <p:nvSpPr>
          <p:cNvPr id="15" name="Rounded Rectangle 14"/>
          <p:cNvSpPr/>
          <p:nvPr/>
        </p:nvSpPr>
        <p:spPr>
          <a:xfrm>
            <a:off x="502920" y="3328415"/>
            <a:ext cx="11155680" cy="886968"/>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529584"/>
            <a:ext cx="3273552" cy="603504"/>
          </a:xfrm>
          <a:prstGeom prst="rect">
            <a:avLst/>
          </a:prstGeom>
          <a:noFill/>
        </p:spPr>
        <p:txBody>
          <a:bodyPr wrap="square" lIns="0" rIns="0" tIns="0" bIns="0">
            <a:spAutoFit/>
          </a:bodyPr>
          <a:lstStyle/>
          <a:p>
            <a:pPr>
              <a:spcAft>
                <a:spcPts val="600"/>
              </a:spcAft>
              <a:defRPr sz="2100" b="1">
                <a:solidFill>
                  <a:srgbClr val="20364D"/>
                </a:solidFill>
                <a:latin typeface="Arial"/>
              </a:defRPr>
            </a:pPr>
            <a:r>
              <a:t>Неточные карты</a:t>
            </a:r>
          </a:p>
        </p:txBody>
      </p:sp>
      <p:sp>
        <p:nvSpPr>
          <p:cNvPr id="17" name="TextBox 16"/>
          <p:cNvSpPr txBox="1"/>
          <p:nvPr/>
        </p:nvSpPr>
        <p:spPr>
          <a:xfrm>
            <a:off x="4389120" y="3529584"/>
            <a:ext cx="3273552" cy="603504"/>
          </a:xfrm>
          <a:prstGeom prst="rect">
            <a:avLst/>
          </a:prstGeom>
          <a:noFill/>
        </p:spPr>
        <p:txBody>
          <a:bodyPr wrap="square" lIns="0" rIns="0" tIns="0" bIns="0">
            <a:spAutoFit/>
          </a:bodyPr>
          <a:lstStyle/>
          <a:p>
            <a:pPr>
              <a:spcAft>
                <a:spcPts val="600"/>
              </a:spcAft>
              <a:defRPr sz="2100" b="0">
                <a:solidFill>
                  <a:srgbClr val="20364D"/>
                </a:solidFill>
                <a:latin typeface="Arial"/>
              </a:defRPr>
            </a:pPr>
            <a:r>
              <a:t>Контроль качества данных</a:t>
            </a:r>
          </a:p>
        </p:txBody>
      </p:sp>
      <p:sp>
        <p:nvSpPr>
          <p:cNvPr id="18" name="TextBox 17"/>
          <p:cNvSpPr txBox="1"/>
          <p:nvPr/>
        </p:nvSpPr>
        <p:spPr>
          <a:xfrm>
            <a:off x="8092440" y="3529584"/>
            <a:ext cx="3273552" cy="603504"/>
          </a:xfrm>
          <a:prstGeom prst="rect">
            <a:avLst/>
          </a:prstGeom>
          <a:noFill/>
        </p:spPr>
        <p:txBody>
          <a:bodyPr wrap="square" lIns="0" rIns="0" tIns="0" bIns="0">
            <a:spAutoFit/>
          </a:bodyPr>
          <a:lstStyle/>
          <a:p>
            <a:pPr>
              <a:spcAft>
                <a:spcPts val="600"/>
              </a:spcAft>
              <a:defRPr sz="2100" b="0">
                <a:solidFill>
                  <a:srgbClr val="20364D"/>
                </a:solidFill>
                <a:latin typeface="Arial"/>
              </a:defRPr>
            </a:pPr>
            <a:r>
              <a:t>Пригодность входов</a:t>
            </a:r>
          </a:p>
        </p:txBody>
      </p:sp>
      <p:sp>
        <p:nvSpPr>
          <p:cNvPr id="19" name="Rounded Rectangle 18"/>
          <p:cNvSpPr/>
          <p:nvPr/>
        </p:nvSpPr>
        <p:spPr>
          <a:xfrm>
            <a:off x="502920" y="4462272"/>
            <a:ext cx="11155680" cy="886968"/>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663440"/>
            <a:ext cx="3273552" cy="603504"/>
          </a:xfrm>
          <a:prstGeom prst="rect">
            <a:avLst/>
          </a:prstGeom>
          <a:noFill/>
        </p:spPr>
        <p:txBody>
          <a:bodyPr wrap="square" lIns="0" rIns="0" tIns="0" bIns="0">
            <a:spAutoFit/>
          </a:bodyPr>
          <a:lstStyle/>
          <a:p>
            <a:pPr>
              <a:spcAft>
                <a:spcPts val="600"/>
              </a:spcAft>
              <a:defRPr sz="2100" b="1">
                <a:solidFill>
                  <a:srgbClr val="20364D"/>
                </a:solidFill>
                <a:latin typeface="Arial"/>
              </a:defRPr>
            </a:pPr>
            <a:r>
              <a:t>Непринятие маршрута</a:t>
            </a:r>
          </a:p>
        </p:txBody>
      </p:sp>
      <p:sp>
        <p:nvSpPr>
          <p:cNvPr id="21" name="TextBox 20"/>
          <p:cNvSpPr txBox="1"/>
          <p:nvPr/>
        </p:nvSpPr>
        <p:spPr>
          <a:xfrm>
            <a:off x="4389120" y="4663440"/>
            <a:ext cx="3273552" cy="603504"/>
          </a:xfrm>
          <a:prstGeom prst="rect">
            <a:avLst/>
          </a:prstGeom>
          <a:noFill/>
        </p:spPr>
        <p:txBody>
          <a:bodyPr wrap="square" lIns="0" rIns="0" tIns="0" bIns="0">
            <a:spAutoFit/>
          </a:bodyPr>
          <a:lstStyle/>
          <a:p>
            <a:pPr>
              <a:spcAft>
                <a:spcPts val="600"/>
              </a:spcAft>
              <a:defRPr sz="2100" b="0">
                <a:solidFill>
                  <a:srgbClr val="20364D"/>
                </a:solidFill>
                <a:latin typeface="Arial"/>
              </a:defRPr>
            </a:pPr>
            <a:r>
              <a:t>Учет опыта + обучение</a:t>
            </a:r>
          </a:p>
        </p:txBody>
      </p:sp>
      <p:sp>
        <p:nvSpPr>
          <p:cNvPr id="22" name="TextBox 21"/>
          <p:cNvSpPr txBox="1"/>
          <p:nvPr/>
        </p:nvSpPr>
        <p:spPr>
          <a:xfrm>
            <a:off x="8092440" y="4663440"/>
            <a:ext cx="3273552" cy="603504"/>
          </a:xfrm>
          <a:prstGeom prst="rect">
            <a:avLst/>
          </a:prstGeom>
          <a:noFill/>
        </p:spPr>
        <p:txBody>
          <a:bodyPr wrap="square" lIns="0" rIns="0" tIns="0" bIns="0">
            <a:spAutoFit/>
          </a:bodyPr>
          <a:lstStyle/>
          <a:p>
            <a:pPr>
              <a:spcAft>
                <a:spcPts val="600"/>
              </a:spcAft>
              <a:defRPr sz="2100" b="0">
                <a:solidFill>
                  <a:srgbClr val="20364D"/>
                </a:solidFill>
                <a:latin typeface="Arial"/>
              </a:defRPr>
            </a:pPr>
            <a:r>
              <a:t>Выполнимость и принятие</a:t>
            </a:r>
          </a:p>
        </p:txBody>
      </p:sp>
      <p:sp>
        <p:nvSpPr>
          <p:cNvPr id="23" name="TextBox 22"/>
          <p:cNvSpPr txBox="1"/>
          <p:nvPr/>
        </p:nvSpPr>
        <p:spPr>
          <a:xfrm>
            <a:off x="685800" y="5879592"/>
            <a:ext cx="10058400" cy="320040"/>
          </a:xfrm>
          <a:prstGeom prst="rect">
            <a:avLst/>
          </a:prstGeom>
          <a:noFill/>
        </p:spPr>
        <p:txBody>
          <a:bodyPr wrap="square" lIns="0" rIns="0" tIns="0" bIns="0">
            <a:spAutoFit/>
          </a:bodyPr>
          <a:lstStyle/>
          <a:p>
            <a:pPr>
              <a:spcAft>
                <a:spcPts val="600"/>
              </a:spcAft>
              <a:defRPr sz="1900" b="0">
                <a:solidFill>
                  <a:srgbClr val="627387"/>
                </a:solidFill>
                <a:latin typeface="Arial"/>
              </a:defRPr>
            </a:pPr>
            <a:r>
              <a:t>Нет данных о частоте ошибок — нет вымышленных процентов.</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ORION автоматизирует выбор последовательности</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Собственные PFT и ядро UPS; более 200 000 вариантов за секунды — по интервью [1], Q2–Q3.</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06 / 15</a:t>
            </a:r>
          </a:p>
        </p:txBody>
      </p:sp>
      <p:sp>
        <p:nvSpPr>
          <p:cNvPr id="8" name="Rounded Rectangle 7"/>
          <p:cNvSpPr/>
          <p:nvPr/>
        </p:nvSpPr>
        <p:spPr>
          <a:xfrm>
            <a:off x="502920" y="1737360"/>
            <a:ext cx="3383280" cy="2779776"/>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920240"/>
            <a:ext cx="2980944"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Входы</a:t>
            </a:r>
          </a:p>
        </p:txBody>
      </p:sp>
      <p:sp>
        <p:nvSpPr>
          <p:cNvPr id="10" name="TextBox 9"/>
          <p:cNvSpPr txBox="1"/>
          <p:nvPr/>
        </p:nvSpPr>
        <p:spPr>
          <a:xfrm>
            <a:off x="704088" y="2770632"/>
            <a:ext cx="2980944" cy="1636776"/>
          </a:xfrm>
          <a:prstGeom prst="rect">
            <a:avLst/>
          </a:prstGeom>
          <a:noFill/>
        </p:spPr>
        <p:txBody>
          <a:bodyPr wrap="square" lIns="0" rIns="0" tIns="0" bIns="0">
            <a:spAutoFit/>
          </a:bodyPr>
          <a:lstStyle/>
          <a:p>
            <a:pPr>
              <a:spcAft>
                <a:spcPts val="600"/>
              </a:spcAft>
              <a:defRPr sz="2100" b="0">
                <a:solidFill>
                  <a:srgbClr val="20364D"/>
                </a:solidFill>
                <a:latin typeface="Arial"/>
              </a:defRPr>
            </a:pPr>
            <a:r>
              <a:t>Задания PFT</a:t>
            </a:r>
          </a:p>
          <a:p>
            <a:pPr>
              <a:spcAft>
                <a:spcPts val="600"/>
              </a:spcAft>
              <a:defRPr sz="2100" b="0">
                <a:solidFill>
                  <a:srgbClr val="20364D"/>
                </a:solidFill>
                <a:latin typeface="Arial"/>
              </a:defRPr>
            </a:pPr>
            <a:r>
              <a:t>Картографические данные</a:t>
            </a:r>
          </a:p>
          <a:p>
            <a:pPr>
              <a:spcAft>
                <a:spcPts val="600"/>
              </a:spcAft>
              <a:defRPr sz="2100" b="0">
                <a:solidFill>
                  <a:srgbClr val="20364D"/>
                </a:solidFill>
                <a:latin typeface="Arial"/>
              </a:defRPr>
            </a:pPr>
            <a:r>
              <a:t>Условия обслуживания</a:t>
            </a:r>
          </a:p>
        </p:txBody>
      </p:sp>
      <p:sp>
        <p:nvSpPr>
          <p:cNvPr id="11" name="Rounded Rectangle 10"/>
          <p:cNvSpPr/>
          <p:nvPr/>
        </p:nvSpPr>
        <p:spPr>
          <a:xfrm>
            <a:off x="4251960" y="1737360"/>
            <a:ext cx="3383280" cy="2779776"/>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3128" y="1920240"/>
            <a:ext cx="2980944"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Ядро ORION</a:t>
            </a:r>
          </a:p>
        </p:txBody>
      </p:sp>
      <p:sp>
        <p:nvSpPr>
          <p:cNvPr id="13" name="TextBox 12"/>
          <p:cNvSpPr txBox="1"/>
          <p:nvPr/>
        </p:nvSpPr>
        <p:spPr>
          <a:xfrm>
            <a:off x="4453128" y="2770632"/>
            <a:ext cx="2980944" cy="1636776"/>
          </a:xfrm>
          <a:prstGeom prst="rect">
            <a:avLst/>
          </a:prstGeom>
          <a:noFill/>
        </p:spPr>
        <p:txBody>
          <a:bodyPr wrap="square" lIns="0" rIns="0" tIns="0" bIns="0">
            <a:spAutoFit/>
          </a:bodyPr>
          <a:lstStyle/>
          <a:p>
            <a:pPr>
              <a:spcAft>
                <a:spcPts val="600"/>
              </a:spcAft>
              <a:defRPr sz="2100" b="0">
                <a:solidFill>
                  <a:srgbClr val="20364D"/>
                </a:solidFill>
                <a:latin typeface="Arial"/>
              </a:defRPr>
            </a:pPr>
            <a:r>
              <a:t>Математическая</a:t>
            </a:r>
          </a:p>
          <a:p>
            <a:pPr>
              <a:spcAft>
                <a:spcPts val="600"/>
              </a:spcAft>
              <a:defRPr sz="2100" b="0">
                <a:solidFill>
                  <a:srgbClr val="20364D"/>
                </a:solidFill>
                <a:latin typeface="Arial"/>
              </a:defRPr>
            </a:pPr>
            <a:r>
              <a:t>оптимизация</a:t>
            </a:r>
          </a:p>
          <a:p>
            <a:pPr>
              <a:spcAft>
                <a:spcPts val="600"/>
              </a:spcAft>
              <a:defRPr sz="2100" b="0">
                <a:solidFill>
                  <a:srgbClr val="20364D"/>
                </a:solidFill>
                <a:latin typeface="Arial"/>
              </a:defRPr>
            </a:pPr>
            <a:r>
              <a:t>с ограничениями</a:t>
            </a:r>
          </a:p>
        </p:txBody>
      </p:sp>
      <p:sp>
        <p:nvSpPr>
          <p:cNvPr id="14" name="Rounded Rectangle 13"/>
          <p:cNvSpPr/>
          <p:nvPr/>
        </p:nvSpPr>
        <p:spPr>
          <a:xfrm>
            <a:off x="8001000" y="1737360"/>
            <a:ext cx="3657600" cy="2779776"/>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2168" y="1920240"/>
            <a:ext cx="3255264"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Выход</a:t>
            </a:r>
          </a:p>
        </p:txBody>
      </p:sp>
      <p:sp>
        <p:nvSpPr>
          <p:cNvPr id="16" name="TextBox 15"/>
          <p:cNvSpPr txBox="1"/>
          <p:nvPr/>
        </p:nvSpPr>
        <p:spPr>
          <a:xfrm>
            <a:off x="8202168" y="2770632"/>
            <a:ext cx="3255264" cy="1636776"/>
          </a:xfrm>
          <a:prstGeom prst="rect">
            <a:avLst/>
          </a:prstGeom>
          <a:noFill/>
        </p:spPr>
        <p:txBody>
          <a:bodyPr wrap="square" lIns="0" rIns="0" tIns="0" bIns="0">
            <a:spAutoFit/>
          </a:bodyPr>
          <a:lstStyle/>
          <a:p>
            <a:pPr>
              <a:spcAft>
                <a:spcPts val="600"/>
              </a:spcAft>
              <a:defRPr sz="2100" b="0">
                <a:solidFill>
                  <a:srgbClr val="20364D"/>
                </a:solidFill>
                <a:latin typeface="Arial"/>
              </a:defRPr>
            </a:pPr>
            <a:r>
              <a:t>Порядок остановок</a:t>
            </a:r>
          </a:p>
          <a:p>
            <a:pPr>
              <a:spcAft>
                <a:spcPts val="600"/>
              </a:spcAft>
              <a:defRPr sz="2100" b="0">
                <a:solidFill>
                  <a:srgbClr val="20364D"/>
                </a:solidFill>
                <a:latin typeface="Arial"/>
              </a:defRPr>
            </a:pPr>
            <a:r>
              <a:t>для водителя</a:t>
            </a:r>
          </a:p>
          <a:p>
            <a:pPr>
              <a:spcAft>
                <a:spcPts val="600"/>
              </a:spcAft>
              <a:defRPr sz="2100" b="0">
                <a:solidFill>
                  <a:srgbClr val="20364D"/>
                </a:solidFill>
                <a:latin typeface="Arial"/>
              </a:defRPr>
            </a:pPr>
          </a:p>
          <a:p>
            <a:pPr>
              <a:spcAft>
                <a:spcPts val="600"/>
              </a:spcAft>
              <a:defRPr sz="2100" b="0">
                <a:solidFill>
                  <a:srgbClr val="20364D"/>
                </a:solidFill>
                <a:latin typeface="Arial"/>
              </a:defRPr>
            </a:pPr>
            <a:r>
              <a:t>Не робот-доставщик</a:t>
            </a:r>
          </a:p>
        </p:txBody>
      </p:sp>
      <p:cxnSp>
        <p:nvCxnSpPr>
          <p:cNvPr id="17" name="Connector 16"/>
          <p:cNvCxnSpPr/>
          <p:nvPr/>
        </p:nvCxnSpPr>
        <p:spPr>
          <a:xfrm>
            <a:off x="3904487" y="3054096"/>
            <a:ext cx="301753"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653527" y="3054096"/>
            <a:ext cx="301752"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4956048"/>
            <a:ext cx="3657600" cy="685800"/>
          </a:xfrm>
          <a:prstGeom prst="rect">
            <a:avLst/>
          </a:prstGeom>
          <a:noFill/>
        </p:spPr>
        <p:txBody>
          <a:bodyPr wrap="square" lIns="0" rIns="0" tIns="0" bIns="0">
            <a:spAutoFit/>
          </a:bodyPr>
          <a:lstStyle/>
          <a:p>
            <a:pPr>
              <a:spcAft>
                <a:spcPts val="600"/>
              </a:spcAft>
              <a:defRPr sz="4200" b="1">
                <a:solidFill>
                  <a:srgbClr val="247E83"/>
                </a:solidFill>
                <a:latin typeface="Arial"/>
              </a:defRPr>
            </a:pPr>
            <a:r>
              <a:t>&gt; 200 000</a:t>
            </a:r>
          </a:p>
        </p:txBody>
      </p:sp>
      <p:sp>
        <p:nvSpPr>
          <p:cNvPr id="20" name="TextBox 19"/>
          <p:cNvSpPr txBox="1"/>
          <p:nvPr/>
        </p:nvSpPr>
        <p:spPr>
          <a:xfrm>
            <a:off x="4480560" y="5212080"/>
            <a:ext cx="6858000" cy="640080"/>
          </a:xfrm>
          <a:prstGeom prst="rect">
            <a:avLst/>
          </a:prstGeom>
          <a:noFill/>
        </p:spPr>
        <p:txBody>
          <a:bodyPr wrap="square" lIns="0" rIns="0" tIns="0" bIns="0">
            <a:spAutoFit/>
          </a:bodyPr>
          <a:lstStyle/>
          <a:p>
            <a:pPr>
              <a:spcAft>
                <a:spcPts val="600"/>
              </a:spcAft>
              <a:defRPr sz="2500" b="1">
                <a:solidFill>
                  <a:srgbClr val="20364D"/>
                </a:solidFill>
                <a:latin typeface="Arial"/>
              </a:defRPr>
            </a:pPr>
            <a:r>
              <a:t>вариантов маршрута анализируются за секунды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TO-BE: система считает, человек выполняет</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Реконструкция [1]. Укрупнённая схема; подробная Activity Diagram — diagrams/to_be.puml</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07 / 15</a:t>
            </a:r>
          </a:p>
        </p:txBody>
      </p:sp>
      <p:sp>
        <p:nvSpPr>
          <p:cNvPr id="8" name="Rounded Rectangle 7"/>
          <p:cNvSpPr/>
          <p:nvPr/>
        </p:nvSpPr>
        <p:spPr>
          <a:xfrm>
            <a:off x="502920" y="1426464"/>
            <a:ext cx="4206240" cy="384048"/>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504188"/>
            <a:ext cx="3986783" cy="228600"/>
          </a:xfrm>
          <a:prstGeom prst="rect">
            <a:avLst/>
          </a:prstGeom>
          <a:noFill/>
        </p:spPr>
        <p:txBody>
          <a:bodyPr wrap="square" lIns="0" rIns="0" tIns="0" bIns="0">
            <a:spAutoFit/>
          </a:bodyPr>
          <a:lstStyle/>
          <a:p>
            <a:pPr>
              <a:spcAft>
                <a:spcPts val="600"/>
              </a:spcAft>
              <a:defRPr sz="1200" b="1">
                <a:solidFill>
                  <a:srgbClr val="627387"/>
                </a:solidFill>
                <a:latin typeface="Arial"/>
              </a:defRPr>
            </a:pPr>
            <a:r>
              <a:t>ТЕ ЖЕ ВХОДЫ И ГРАНИЦЫ ПРОЦЕССА</a:t>
            </a:r>
          </a:p>
        </p:txBody>
      </p:sp>
      <p:sp>
        <p:nvSpPr>
          <p:cNvPr id="10" name="TextBox 9"/>
          <p:cNvSpPr txBox="1"/>
          <p:nvPr/>
        </p:nvSpPr>
        <p:spPr>
          <a:xfrm>
            <a:off x="502920" y="1938528"/>
            <a:ext cx="2039112" cy="256032"/>
          </a:xfrm>
          <a:prstGeom prst="rect">
            <a:avLst/>
          </a:prstGeom>
          <a:noFill/>
        </p:spPr>
        <p:txBody>
          <a:bodyPr wrap="square" lIns="0" rIns="0" tIns="0" bIns="0">
            <a:spAutoFit/>
          </a:bodyPr>
          <a:lstStyle/>
          <a:p>
            <a:pPr>
              <a:spcAft>
                <a:spcPts val="600"/>
              </a:spcAft>
              <a:defRPr sz="1500" b="1">
                <a:solidFill>
                  <a:srgbClr val="627387"/>
                </a:solidFill>
                <a:latin typeface="Arial"/>
              </a:defRPr>
            </a:pPr>
            <a:r>
              <a:t>PFT</a:t>
            </a:r>
          </a:p>
        </p:txBody>
      </p:sp>
      <p:sp>
        <p:nvSpPr>
          <p:cNvPr id="11" name="Rounded Rectangle 10"/>
          <p:cNvSpPr/>
          <p:nvPr/>
        </p:nvSpPr>
        <p:spPr>
          <a:xfrm>
            <a:off x="502920" y="2286000"/>
            <a:ext cx="2039112" cy="137160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624328"/>
            <a:ext cx="1819656" cy="914400"/>
          </a:xfrm>
          <a:prstGeom prst="rect">
            <a:avLst/>
          </a:prstGeom>
          <a:noFill/>
        </p:spPr>
        <p:txBody>
          <a:bodyPr wrap="square" lIns="0" rIns="0" tIns="0" bIns="0">
            <a:spAutoFit/>
          </a:bodyPr>
          <a:lstStyle/>
          <a:p>
            <a:pPr>
              <a:spcAft>
                <a:spcPts val="600"/>
              </a:spcAft>
              <a:defRPr sz="2000" b="1">
                <a:solidFill>
                  <a:srgbClr val="20364D"/>
                </a:solidFill>
                <a:latin typeface="Arial"/>
              </a:defRPr>
            </a:pPr>
            <a:r>
              <a:t>Задания</a:t>
            </a:r>
          </a:p>
          <a:p>
            <a:pPr>
              <a:spcAft>
                <a:spcPts val="600"/>
              </a:spcAft>
              <a:defRPr sz="2000" b="1">
                <a:solidFill>
                  <a:srgbClr val="20364D"/>
                </a:solidFill>
                <a:latin typeface="Arial"/>
              </a:defRPr>
            </a:pPr>
            <a:r>
              <a:t>и условия</a:t>
            </a:r>
          </a:p>
        </p:txBody>
      </p:sp>
      <p:cxnSp>
        <p:nvCxnSpPr>
          <p:cNvPr id="13" name="Connector 12"/>
          <p:cNvCxnSpPr/>
          <p:nvPr/>
        </p:nvCxnSpPr>
        <p:spPr>
          <a:xfrm>
            <a:off x="2542032" y="2962656"/>
            <a:ext cx="210312"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70632" y="1938528"/>
            <a:ext cx="2039112" cy="256032"/>
          </a:xfrm>
          <a:prstGeom prst="rect">
            <a:avLst/>
          </a:prstGeom>
          <a:noFill/>
        </p:spPr>
        <p:txBody>
          <a:bodyPr wrap="square" lIns="0" rIns="0" tIns="0" bIns="0">
            <a:spAutoFit/>
          </a:bodyPr>
          <a:lstStyle/>
          <a:p>
            <a:pPr>
              <a:spcAft>
                <a:spcPts val="600"/>
              </a:spcAft>
              <a:defRPr sz="1500" b="1">
                <a:solidFill>
                  <a:srgbClr val="247E83"/>
                </a:solidFill>
                <a:latin typeface="Arial"/>
              </a:defRPr>
            </a:pPr>
            <a:r>
              <a:t>ORION</a:t>
            </a:r>
          </a:p>
        </p:txBody>
      </p:sp>
      <p:sp>
        <p:nvSpPr>
          <p:cNvPr id="15" name="Rounded Rectangle 14"/>
          <p:cNvSpPr/>
          <p:nvPr/>
        </p:nvSpPr>
        <p:spPr>
          <a:xfrm>
            <a:off x="2770632" y="2286000"/>
            <a:ext cx="2039112" cy="1371600"/>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80360" y="2624328"/>
            <a:ext cx="1819656" cy="914400"/>
          </a:xfrm>
          <a:prstGeom prst="rect">
            <a:avLst/>
          </a:prstGeom>
          <a:noFill/>
        </p:spPr>
        <p:txBody>
          <a:bodyPr wrap="square" lIns="0" rIns="0" tIns="0" bIns="0">
            <a:spAutoFit/>
          </a:bodyPr>
          <a:lstStyle/>
          <a:p>
            <a:pPr>
              <a:spcAft>
                <a:spcPts val="600"/>
              </a:spcAft>
              <a:defRPr sz="2000" b="1">
                <a:solidFill>
                  <a:srgbClr val="20364D"/>
                </a:solidFill>
                <a:latin typeface="Arial"/>
              </a:defRPr>
            </a:pPr>
            <a:r>
              <a:t>Проверка</a:t>
            </a:r>
          </a:p>
          <a:p>
            <a:pPr>
              <a:spcAft>
                <a:spcPts val="600"/>
              </a:spcAft>
              <a:defRPr sz="2000" b="1">
                <a:solidFill>
                  <a:srgbClr val="20364D"/>
                </a:solidFill>
                <a:latin typeface="Arial"/>
              </a:defRPr>
            </a:pPr>
            <a:r>
              <a:t>данных</a:t>
            </a:r>
          </a:p>
        </p:txBody>
      </p:sp>
      <p:cxnSp>
        <p:nvCxnSpPr>
          <p:cNvPr id="17" name="Connector 16"/>
          <p:cNvCxnSpPr/>
          <p:nvPr/>
        </p:nvCxnSpPr>
        <p:spPr>
          <a:xfrm>
            <a:off x="4809744" y="2962656"/>
            <a:ext cx="210312"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38344" y="1938528"/>
            <a:ext cx="2039112" cy="256032"/>
          </a:xfrm>
          <a:prstGeom prst="rect">
            <a:avLst/>
          </a:prstGeom>
          <a:noFill/>
        </p:spPr>
        <p:txBody>
          <a:bodyPr wrap="square" lIns="0" rIns="0" tIns="0" bIns="0">
            <a:spAutoFit/>
          </a:bodyPr>
          <a:lstStyle/>
          <a:p>
            <a:pPr>
              <a:spcAft>
                <a:spcPts val="600"/>
              </a:spcAft>
              <a:defRPr sz="1500" b="1">
                <a:solidFill>
                  <a:srgbClr val="247E83"/>
                </a:solidFill>
                <a:latin typeface="Arial"/>
              </a:defRPr>
            </a:pPr>
            <a:r>
              <a:t>ORION</a:t>
            </a:r>
          </a:p>
        </p:txBody>
      </p:sp>
      <p:sp>
        <p:nvSpPr>
          <p:cNvPr id="19" name="Rounded Rectangle 18"/>
          <p:cNvSpPr/>
          <p:nvPr/>
        </p:nvSpPr>
        <p:spPr>
          <a:xfrm>
            <a:off x="5038344" y="2286000"/>
            <a:ext cx="2039112" cy="1371600"/>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48072" y="2624328"/>
            <a:ext cx="1819656" cy="914400"/>
          </a:xfrm>
          <a:prstGeom prst="rect">
            <a:avLst/>
          </a:prstGeom>
          <a:noFill/>
        </p:spPr>
        <p:txBody>
          <a:bodyPr wrap="square" lIns="0" rIns="0" tIns="0" bIns="0">
            <a:spAutoFit/>
          </a:bodyPr>
          <a:lstStyle/>
          <a:p>
            <a:pPr>
              <a:spcAft>
                <a:spcPts val="600"/>
              </a:spcAft>
              <a:defRPr sz="2000" b="1">
                <a:solidFill>
                  <a:srgbClr val="20364D"/>
                </a:solidFill>
                <a:latin typeface="Arial"/>
              </a:defRPr>
            </a:pPr>
            <a:r>
              <a:t>Расчет порядка</a:t>
            </a:r>
          </a:p>
          <a:p>
            <a:pPr>
              <a:spcAft>
                <a:spcPts val="600"/>
              </a:spcAft>
              <a:defRPr sz="2000" b="1">
                <a:solidFill>
                  <a:srgbClr val="20364D"/>
                </a:solidFill>
                <a:latin typeface="Arial"/>
              </a:defRPr>
            </a:pPr>
            <a:r>
              <a:t>остановок</a:t>
            </a:r>
          </a:p>
        </p:txBody>
      </p:sp>
      <p:cxnSp>
        <p:nvCxnSpPr>
          <p:cNvPr id="21" name="Connector 20"/>
          <p:cNvCxnSpPr/>
          <p:nvPr/>
        </p:nvCxnSpPr>
        <p:spPr>
          <a:xfrm>
            <a:off x="7077456" y="2962656"/>
            <a:ext cx="210312"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06055" y="1938528"/>
            <a:ext cx="2039112" cy="256032"/>
          </a:xfrm>
          <a:prstGeom prst="rect">
            <a:avLst/>
          </a:prstGeom>
          <a:noFill/>
        </p:spPr>
        <p:txBody>
          <a:bodyPr wrap="square" lIns="0" rIns="0" tIns="0" bIns="0">
            <a:spAutoFit/>
          </a:bodyPr>
          <a:lstStyle/>
          <a:p>
            <a:pPr>
              <a:spcAft>
                <a:spcPts val="600"/>
              </a:spcAft>
              <a:defRPr sz="1500" b="1">
                <a:solidFill>
                  <a:srgbClr val="627387"/>
                </a:solidFill>
                <a:latin typeface="Arial"/>
              </a:defRPr>
            </a:pPr>
            <a:r>
              <a:t>Водитель</a:t>
            </a:r>
          </a:p>
        </p:txBody>
      </p:sp>
      <p:sp>
        <p:nvSpPr>
          <p:cNvPr id="23" name="Rounded Rectangle 22"/>
          <p:cNvSpPr/>
          <p:nvPr/>
        </p:nvSpPr>
        <p:spPr>
          <a:xfrm>
            <a:off x="7306055" y="2286000"/>
            <a:ext cx="2039112" cy="137160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5783" y="2624328"/>
            <a:ext cx="1819656" cy="914400"/>
          </a:xfrm>
          <a:prstGeom prst="rect">
            <a:avLst/>
          </a:prstGeom>
          <a:noFill/>
        </p:spPr>
        <p:txBody>
          <a:bodyPr wrap="square" lIns="0" rIns="0" tIns="0" bIns="0">
            <a:spAutoFit/>
          </a:bodyPr>
          <a:lstStyle/>
          <a:p>
            <a:pPr>
              <a:spcAft>
                <a:spcPts val="600"/>
              </a:spcAft>
              <a:defRPr sz="2000" b="1">
                <a:solidFill>
                  <a:srgbClr val="20364D"/>
                </a:solidFill>
                <a:latin typeface="Arial"/>
              </a:defRPr>
            </a:pPr>
            <a:r>
              <a:t>Доставка</a:t>
            </a:r>
          </a:p>
          <a:p>
            <a:pPr>
              <a:spcAft>
                <a:spcPts val="600"/>
              </a:spcAft>
              <a:defRPr sz="2000" b="1">
                <a:solidFill>
                  <a:srgbClr val="20364D"/>
                </a:solidFill>
                <a:latin typeface="Arial"/>
              </a:defRPr>
            </a:pPr>
            <a:r>
              <a:t>отправлений</a:t>
            </a:r>
          </a:p>
        </p:txBody>
      </p:sp>
      <p:cxnSp>
        <p:nvCxnSpPr>
          <p:cNvPr id="25" name="Connector 24"/>
          <p:cNvCxnSpPr/>
          <p:nvPr/>
        </p:nvCxnSpPr>
        <p:spPr>
          <a:xfrm>
            <a:off x="9345167" y="2962656"/>
            <a:ext cx="210313"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573768" y="1938528"/>
            <a:ext cx="2039112" cy="256032"/>
          </a:xfrm>
          <a:prstGeom prst="rect">
            <a:avLst/>
          </a:prstGeom>
          <a:noFill/>
        </p:spPr>
        <p:txBody>
          <a:bodyPr wrap="square" lIns="0" rIns="0" tIns="0" bIns="0">
            <a:spAutoFit/>
          </a:bodyPr>
          <a:lstStyle/>
          <a:p>
            <a:pPr>
              <a:spcAft>
                <a:spcPts val="600"/>
              </a:spcAft>
              <a:defRPr sz="1500" b="1">
                <a:solidFill>
                  <a:srgbClr val="627387"/>
                </a:solidFill>
                <a:latin typeface="Arial"/>
              </a:defRPr>
            </a:pPr>
            <a:r>
              <a:t>Водитель / ИС</a:t>
            </a:r>
          </a:p>
        </p:txBody>
      </p:sp>
      <p:sp>
        <p:nvSpPr>
          <p:cNvPr id="27" name="Rounded Rectangle 26"/>
          <p:cNvSpPr/>
          <p:nvPr/>
        </p:nvSpPr>
        <p:spPr>
          <a:xfrm>
            <a:off x="9573768" y="2286000"/>
            <a:ext cx="2039112" cy="137160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83496" y="2624328"/>
            <a:ext cx="1819656" cy="914400"/>
          </a:xfrm>
          <a:prstGeom prst="rect">
            <a:avLst/>
          </a:prstGeom>
          <a:noFill/>
        </p:spPr>
        <p:txBody>
          <a:bodyPr wrap="square" lIns="0" rIns="0" tIns="0" bIns="0">
            <a:spAutoFit/>
          </a:bodyPr>
          <a:lstStyle/>
          <a:p>
            <a:pPr>
              <a:spcAft>
                <a:spcPts val="600"/>
              </a:spcAft>
              <a:defRPr sz="2000" b="1">
                <a:solidFill>
                  <a:srgbClr val="20364D"/>
                </a:solidFill>
                <a:latin typeface="Arial"/>
              </a:defRPr>
            </a:pPr>
            <a:r>
              <a:t>Результаты</a:t>
            </a:r>
          </a:p>
          <a:p>
            <a:pPr>
              <a:spcAft>
                <a:spcPts val="600"/>
              </a:spcAft>
              <a:defRPr sz="2000" b="1">
                <a:solidFill>
                  <a:srgbClr val="20364D"/>
                </a:solidFill>
                <a:latin typeface="Arial"/>
              </a:defRPr>
            </a:pPr>
            <a:r>
              <a:t>выполнения</a:t>
            </a:r>
          </a:p>
        </p:txBody>
      </p:sp>
      <p:sp>
        <p:nvSpPr>
          <p:cNvPr id="29" name="Rounded Rectangle 28"/>
          <p:cNvSpPr/>
          <p:nvPr/>
        </p:nvSpPr>
        <p:spPr>
          <a:xfrm>
            <a:off x="502920" y="4242816"/>
            <a:ext cx="5166360" cy="1225296"/>
          </a:xfrm>
          <a:prstGeom prst="roundRect">
            <a:avLst>
              <a:gd name="adj" fmla="val 13000"/>
            </a:avLst>
          </a:prstGeom>
          <a:solidFill>
            <a:srgbClr val="FFF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389120"/>
            <a:ext cx="4754880" cy="347472"/>
          </a:xfrm>
          <a:prstGeom prst="rect">
            <a:avLst/>
          </a:prstGeom>
          <a:noFill/>
        </p:spPr>
        <p:txBody>
          <a:bodyPr wrap="square" lIns="0" rIns="0" tIns="0" bIns="0">
            <a:spAutoFit/>
          </a:bodyPr>
          <a:lstStyle/>
          <a:p>
            <a:pPr>
              <a:spcAft>
                <a:spcPts val="600"/>
              </a:spcAft>
              <a:defRPr sz="1800" b="1">
                <a:solidFill>
                  <a:srgbClr val="20364D"/>
                </a:solidFill>
                <a:latin typeface="Arial"/>
              </a:defRPr>
            </a:pPr>
            <a:r>
              <a:t>Ошибка данных → остановка расчета</a:t>
            </a:r>
          </a:p>
        </p:txBody>
      </p:sp>
      <p:sp>
        <p:nvSpPr>
          <p:cNvPr id="31" name="TextBox 30"/>
          <p:cNvSpPr txBox="1"/>
          <p:nvPr/>
        </p:nvSpPr>
        <p:spPr>
          <a:xfrm>
            <a:off x="685800" y="4791456"/>
            <a:ext cx="4754880" cy="594360"/>
          </a:xfrm>
          <a:prstGeom prst="rect">
            <a:avLst/>
          </a:prstGeom>
          <a:noFill/>
        </p:spPr>
        <p:txBody>
          <a:bodyPr wrap="square" lIns="0" rIns="0" tIns="0" bIns="0">
            <a:spAutoFit/>
          </a:bodyPr>
          <a:lstStyle/>
          <a:p>
            <a:pPr>
              <a:spcAft>
                <a:spcPts val="600"/>
              </a:spcAft>
              <a:defRPr sz="1800" b="0">
                <a:solidFill>
                  <a:srgbClr val="20364D"/>
                </a:solidFill>
                <a:latin typeface="Arial"/>
              </a:defRPr>
            </a:pPr>
            <a:r>
              <a:t>Исправление → новый расчет</a:t>
            </a:r>
          </a:p>
          <a:p>
            <a:pPr>
              <a:spcAft>
                <a:spcPts val="600"/>
              </a:spcAft>
              <a:defRPr sz="1800" b="0">
                <a:solidFill>
                  <a:srgbClr val="20364D"/>
                </a:solidFill>
                <a:latin typeface="Arial"/>
              </a:defRPr>
            </a:pPr>
            <a:r>
              <a:t>или резервный план</a:t>
            </a:r>
          </a:p>
        </p:txBody>
      </p:sp>
      <p:cxnSp>
        <p:nvCxnSpPr>
          <p:cNvPr id="32" name="Connector 31"/>
          <p:cNvCxnSpPr/>
          <p:nvPr/>
        </p:nvCxnSpPr>
        <p:spPr>
          <a:xfrm>
            <a:off x="3776472" y="3657600"/>
            <a:ext cx="0" cy="557784"/>
          </a:xfrm>
          <a:prstGeom prst="line">
            <a:avLst/>
          </a:prstGeom>
          <a:ln w="25400">
            <a:solidFill>
              <a:srgbClr val="C88C30"/>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989320" y="4242816"/>
            <a:ext cx="5696712" cy="1225296"/>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72200" y="4389120"/>
            <a:ext cx="5303520" cy="347472"/>
          </a:xfrm>
          <a:prstGeom prst="rect">
            <a:avLst/>
          </a:prstGeom>
          <a:noFill/>
        </p:spPr>
        <p:txBody>
          <a:bodyPr wrap="square" lIns="0" rIns="0" tIns="0" bIns="0">
            <a:spAutoFit/>
          </a:bodyPr>
          <a:lstStyle/>
          <a:p>
            <a:pPr>
              <a:spcAft>
                <a:spcPts val="600"/>
              </a:spcAft>
              <a:defRPr sz="1900" b="1">
                <a:solidFill>
                  <a:srgbClr val="20364D"/>
                </a:solidFill>
                <a:latin typeface="Arial"/>
              </a:defRPr>
            </a:pPr>
            <a:r>
              <a:t>Отклонение в пути → разбор с человеком</a:t>
            </a:r>
          </a:p>
        </p:txBody>
      </p:sp>
      <p:sp>
        <p:nvSpPr>
          <p:cNvPr id="35" name="TextBox 34"/>
          <p:cNvSpPr txBox="1"/>
          <p:nvPr/>
        </p:nvSpPr>
        <p:spPr>
          <a:xfrm>
            <a:off x="6172200" y="4791456"/>
            <a:ext cx="5303520" cy="594360"/>
          </a:xfrm>
          <a:prstGeom prst="rect">
            <a:avLst/>
          </a:prstGeom>
          <a:noFill/>
        </p:spPr>
        <p:txBody>
          <a:bodyPr wrap="square" lIns="0" rIns="0" tIns="0" bIns="0">
            <a:spAutoFit/>
          </a:bodyPr>
          <a:lstStyle/>
          <a:p>
            <a:pPr>
              <a:spcAft>
                <a:spcPts val="600"/>
              </a:spcAft>
              <a:defRPr sz="1800" b="0">
                <a:solidFill>
                  <a:srgbClr val="20364D"/>
                </a:solidFill>
                <a:latin typeface="Arial"/>
              </a:defRPr>
            </a:pPr>
            <a:r>
              <a:t>Непрерывный пересчет не приписывается</a:t>
            </a:r>
          </a:p>
          <a:p>
            <a:pPr>
              <a:spcAft>
                <a:spcPts val="600"/>
              </a:spcAft>
              <a:defRPr sz="1800" b="0">
                <a:solidFill>
                  <a:srgbClr val="20364D"/>
                </a:solidFill>
                <a:latin typeface="Arial"/>
              </a:defRPr>
            </a:pPr>
            <a:r>
              <a:t>первоначальной версии 2016 года</a:t>
            </a:r>
          </a:p>
        </p:txBody>
      </p:sp>
      <p:cxnSp>
        <p:nvCxnSpPr>
          <p:cNvPr id="36" name="Connector 35"/>
          <p:cNvCxnSpPr/>
          <p:nvPr/>
        </p:nvCxnSpPr>
        <p:spPr>
          <a:xfrm>
            <a:off x="8339327" y="3657600"/>
            <a:ext cx="0" cy="557784"/>
          </a:xfrm>
          <a:prstGeom prst="line">
            <a:avLst/>
          </a:prstGeom>
          <a:ln w="25400">
            <a:solidFill>
              <a:srgbClr val="C88C30"/>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02920" y="5852160"/>
            <a:ext cx="11064240" cy="347472"/>
          </a:xfrm>
          <a:prstGeom prst="rect">
            <a:avLst/>
          </a:prstGeom>
          <a:noFill/>
        </p:spPr>
        <p:txBody>
          <a:bodyPr wrap="square" lIns="0" rIns="0" tIns="0" bIns="0">
            <a:spAutoFit/>
          </a:bodyPr>
          <a:lstStyle/>
          <a:p>
            <a:pPr>
              <a:spcAft>
                <a:spcPts val="600"/>
              </a:spcAft>
              <a:defRPr sz="2100" b="1">
                <a:solidFill>
                  <a:srgbClr val="247E83"/>
                </a:solidFill>
                <a:latin typeface="Arial"/>
              </a:defRPr>
            </a:pPr>
            <a:r>
              <a:t>Автоматизировано решение о последовательности. Доставку выполняет человек.</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Варианты использования: цели, не код</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UML Use Case — учебная реконструкция [1]. Подробная спецификация: docs/use_case_specification.md.</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08 / 15</a:t>
            </a:r>
          </a:p>
        </p:txBody>
      </p:sp>
      <p:sp>
        <p:nvSpPr>
          <p:cNvPr id="8" name="Rectangle 7"/>
          <p:cNvSpPr/>
          <p:nvPr/>
        </p:nvSpPr>
        <p:spPr>
          <a:xfrm>
            <a:off x="2788920" y="1719072"/>
            <a:ext cx="6510528" cy="4407408"/>
          </a:xfrm>
          <a:prstGeom prst="rect">
            <a:avLst/>
          </a:prstGeom>
          <a:solidFill>
            <a:srgbClr val="FFFFFF"/>
          </a:solidFill>
          <a:ln>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99232" y="1901952"/>
            <a:ext cx="6080760" cy="365760"/>
          </a:xfrm>
          <a:prstGeom prst="rect">
            <a:avLst/>
          </a:prstGeom>
          <a:noFill/>
        </p:spPr>
        <p:txBody>
          <a:bodyPr wrap="square" lIns="0" rIns="0" tIns="0" bIns="0">
            <a:spAutoFit/>
          </a:bodyPr>
          <a:lstStyle/>
          <a:p>
            <a:pPr>
              <a:spcAft>
                <a:spcPts val="600"/>
              </a:spcAft>
              <a:defRPr sz="2200" b="1">
                <a:solidFill>
                  <a:srgbClr val="247E83"/>
                </a:solidFill>
                <a:latin typeface="Arial"/>
              </a:defRPr>
            </a:pPr>
            <a:r>
              <a:t>ORION — учебная граница системы</a:t>
            </a:r>
          </a:p>
        </p:txBody>
      </p:sp>
      <p:sp>
        <p:nvSpPr>
          <p:cNvPr id="10" name="Oval 9"/>
          <p:cNvSpPr/>
          <p:nvPr/>
        </p:nvSpPr>
        <p:spPr>
          <a:xfrm>
            <a:off x="1261872" y="2258568"/>
            <a:ext cx="219456" cy="219456"/>
          </a:xfrm>
          <a:prstGeom prst="ellipse">
            <a:avLst/>
          </a:prstGeom>
          <a:noFill/>
          <a:ln>
            <a:solidFill>
              <a:srgbClr val="20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371600" y="2478024"/>
            <a:ext cx="0" cy="35661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43000" y="2596896"/>
            <a:ext cx="457200" cy="0"/>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170432" y="2834640"/>
            <a:ext cx="201168" cy="21945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71600" y="2834640"/>
            <a:ext cx="201168" cy="21945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20623" y="3090672"/>
            <a:ext cx="1901952" cy="539496"/>
          </a:xfrm>
          <a:prstGeom prst="rect">
            <a:avLst/>
          </a:prstGeom>
          <a:noFill/>
        </p:spPr>
        <p:txBody>
          <a:bodyPr wrap="square" lIns="0" rIns="0" tIns="0" bIns="0">
            <a:spAutoFit/>
          </a:bodyPr>
          <a:lstStyle/>
          <a:p>
            <a:pPr algn="ctr">
              <a:spcAft>
                <a:spcPts val="600"/>
              </a:spcAft>
              <a:defRPr sz="1700" b="0">
                <a:solidFill>
                  <a:srgbClr val="20364D"/>
                </a:solidFill>
                <a:latin typeface="Arial"/>
              </a:defRPr>
            </a:pPr>
            <a:r>
              <a:t>Планировщик</a:t>
            </a:r>
          </a:p>
        </p:txBody>
      </p:sp>
      <p:sp>
        <p:nvSpPr>
          <p:cNvPr id="16" name="Oval 15"/>
          <p:cNvSpPr/>
          <p:nvPr/>
        </p:nvSpPr>
        <p:spPr>
          <a:xfrm>
            <a:off x="1261872" y="3547871"/>
            <a:ext cx="219456" cy="219456"/>
          </a:xfrm>
          <a:prstGeom prst="ellipse">
            <a:avLst/>
          </a:prstGeom>
          <a:noFill/>
          <a:ln>
            <a:solidFill>
              <a:srgbClr val="20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371600" y="3767327"/>
            <a:ext cx="0" cy="356617"/>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43000" y="3886200"/>
            <a:ext cx="457200" cy="0"/>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170432" y="4123944"/>
            <a:ext cx="201168" cy="21945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71600" y="4123944"/>
            <a:ext cx="201168" cy="21945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20623" y="4379975"/>
            <a:ext cx="1901952" cy="539496"/>
          </a:xfrm>
          <a:prstGeom prst="rect">
            <a:avLst/>
          </a:prstGeom>
          <a:noFill/>
        </p:spPr>
        <p:txBody>
          <a:bodyPr wrap="square" lIns="0" rIns="0" tIns="0" bIns="0">
            <a:spAutoFit/>
          </a:bodyPr>
          <a:lstStyle/>
          <a:p>
            <a:pPr algn="ctr">
              <a:spcAft>
                <a:spcPts val="600"/>
              </a:spcAft>
              <a:defRPr sz="1700" b="0">
                <a:solidFill>
                  <a:srgbClr val="20364D"/>
                </a:solidFill>
                <a:latin typeface="Arial"/>
              </a:defRPr>
            </a:pPr>
            <a:r>
              <a:t>Водитель</a:t>
            </a:r>
          </a:p>
        </p:txBody>
      </p:sp>
      <p:sp>
        <p:nvSpPr>
          <p:cNvPr id="22" name="Oval 21"/>
          <p:cNvSpPr/>
          <p:nvPr/>
        </p:nvSpPr>
        <p:spPr>
          <a:xfrm>
            <a:off x="1261872" y="4828032"/>
            <a:ext cx="219456" cy="219456"/>
          </a:xfrm>
          <a:prstGeom prst="ellipse">
            <a:avLst/>
          </a:prstGeom>
          <a:noFill/>
          <a:ln>
            <a:solidFill>
              <a:srgbClr val="20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1371600" y="5047488"/>
            <a:ext cx="0" cy="35661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43000" y="5166360"/>
            <a:ext cx="457200" cy="0"/>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170432" y="5404104"/>
            <a:ext cx="201168" cy="21945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71600" y="5404104"/>
            <a:ext cx="201168" cy="21945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20623" y="5660136"/>
            <a:ext cx="1901952" cy="539496"/>
          </a:xfrm>
          <a:prstGeom prst="rect">
            <a:avLst/>
          </a:prstGeom>
          <a:noFill/>
        </p:spPr>
        <p:txBody>
          <a:bodyPr wrap="square" lIns="0" rIns="0" tIns="0" bIns="0">
            <a:spAutoFit/>
          </a:bodyPr>
          <a:lstStyle/>
          <a:p>
            <a:pPr algn="ctr">
              <a:spcAft>
                <a:spcPts val="600"/>
              </a:spcAft>
              <a:defRPr sz="1700" b="0">
                <a:solidFill>
                  <a:srgbClr val="20364D"/>
                </a:solidFill>
                <a:latin typeface="Arial"/>
              </a:defRPr>
            </a:pPr>
            <a:r>
              <a:t>Руководитель</a:t>
            </a:r>
          </a:p>
          <a:p>
            <a:pPr algn="ctr">
              <a:spcAft>
                <a:spcPts val="600"/>
              </a:spcAft>
              <a:defRPr sz="1700" b="0">
                <a:solidFill>
                  <a:srgbClr val="20364D"/>
                </a:solidFill>
                <a:latin typeface="Arial"/>
              </a:defRPr>
            </a:pPr>
            <a:r>
              <a:t>доставки</a:t>
            </a:r>
          </a:p>
        </p:txBody>
      </p:sp>
      <p:sp>
        <p:nvSpPr>
          <p:cNvPr id="28" name="Oval 27"/>
          <p:cNvSpPr/>
          <p:nvPr/>
        </p:nvSpPr>
        <p:spPr>
          <a:xfrm>
            <a:off x="10616184" y="2258568"/>
            <a:ext cx="219456" cy="219456"/>
          </a:xfrm>
          <a:prstGeom prst="ellipse">
            <a:avLst/>
          </a:prstGeom>
          <a:noFill/>
          <a:ln>
            <a:solidFill>
              <a:srgbClr val="20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10725912" y="2478024"/>
            <a:ext cx="0" cy="35661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497312" y="2596896"/>
            <a:ext cx="457200" cy="0"/>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0524744" y="2834640"/>
            <a:ext cx="201168" cy="21945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725912" y="2834640"/>
            <a:ext cx="201168" cy="21945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774936" y="3090672"/>
            <a:ext cx="1901952" cy="539496"/>
          </a:xfrm>
          <a:prstGeom prst="rect">
            <a:avLst/>
          </a:prstGeom>
          <a:noFill/>
        </p:spPr>
        <p:txBody>
          <a:bodyPr wrap="square" lIns="0" rIns="0" tIns="0" bIns="0">
            <a:spAutoFit/>
          </a:bodyPr>
          <a:lstStyle/>
          <a:p>
            <a:pPr algn="ctr">
              <a:spcAft>
                <a:spcPts val="600"/>
              </a:spcAft>
              <a:defRPr sz="1700" b="0">
                <a:solidFill>
                  <a:srgbClr val="20364D"/>
                </a:solidFill>
                <a:latin typeface="Arial"/>
              </a:defRPr>
            </a:pPr>
            <a:r>
              <a:t>PFT</a:t>
            </a:r>
          </a:p>
          <a:p>
            <a:pPr algn="ctr">
              <a:spcAft>
                <a:spcPts val="600"/>
              </a:spcAft>
              <a:defRPr sz="1700" b="0">
                <a:solidFill>
                  <a:srgbClr val="20364D"/>
                </a:solidFill>
                <a:latin typeface="Arial"/>
              </a:defRPr>
            </a:pPr>
            <a:r>
              <a:t>Внешняя ИС</a:t>
            </a:r>
          </a:p>
        </p:txBody>
      </p:sp>
      <p:sp>
        <p:nvSpPr>
          <p:cNvPr id="34" name="Oval 33"/>
          <p:cNvSpPr/>
          <p:nvPr/>
        </p:nvSpPr>
        <p:spPr>
          <a:xfrm>
            <a:off x="10616184" y="4306824"/>
            <a:ext cx="219456" cy="219456"/>
          </a:xfrm>
          <a:prstGeom prst="ellipse">
            <a:avLst/>
          </a:prstGeom>
          <a:noFill/>
          <a:ln>
            <a:solidFill>
              <a:srgbClr val="20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10725912" y="4526279"/>
            <a:ext cx="0" cy="356617"/>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497312" y="4645152"/>
            <a:ext cx="457200" cy="0"/>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0524744" y="4882896"/>
            <a:ext cx="201168" cy="21945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25912" y="4882896"/>
            <a:ext cx="201168" cy="21945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774936" y="5138927"/>
            <a:ext cx="1901952" cy="539496"/>
          </a:xfrm>
          <a:prstGeom prst="rect">
            <a:avLst/>
          </a:prstGeom>
          <a:noFill/>
        </p:spPr>
        <p:txBody>
          <a:bodyPr wrap="square" lIns="0" rIns="0" tIns="0" bIns="0">
            <a:spAutoFit/>
          </a:bodyPr>
          <a:lstStyle/>
          <a:p>
            <a:pPr algn="ctr">
              <a:spcAft>
                <a:spcPts val="600"/>
              </a:spcAft>
              <a:defRPr sz="1700" b="0">
                <a:solidFill>
                  <a:srgbClr val="20364D"/>
                </a:solidFill>
                <a:latin typeface="Arial"/>
              </a:defRPr>
            </a:pPr>
            <a:r>
              <a:t>Сервис карт</a:t>
            </a:r>
          </a:p>
          <a:p>
            <a:pPr algn="ctr">
              <a:spcAft>
                <a:spcPts val="600"/>
              </a:spcAft>
              <a:defRPr sz="1700" b="0">
                <a:solidFill>
                  <a:srgbClr val="20364D"/>
                </a:solidFill>
                <a:latin typeface="Arial"/>
              </a:defRPr>
            </a:pPr>
            <a:r>
              <a:t>Внешняя роль</a:t>
            </a:r>
          </a:p>
        </p:txBody>
      </p:sp>
      <p:sp>
        <p:nvSpPr>
          <p:cNvPr id="40" name="Oval 39"/>
          <p:cNvSpPr/>
          <p:nvPr/>
        </p:nvSpPr>
        <p:spPr>
          <a:xfrm>
            <a:off x="3383280" y="2450592"/>
            <a:ext cx="2395728" cy="941832"/>
          </a:xfrm>
          <a:prstGeom prst="ellipse">
            <a:avLst/>
          </a:prstGeom>
          <a:solidFill>
            <a:srgbClr val="E8F3F4"/>
          </a:solidFill>
          <a:ln>
            <a:solidFill>
              <a:srgbClr val="247E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02152" y="2642616"/>
            <a:ext cx="2157984" cy="704088"/>
          </a:xfrm>
          <a:prstGeom prst="rect">
            <a:avLst/>
          </a:prstGeom>
          <a:noFill/>
        </p:spPr>
        <p:txBody>
          <a:bodyPr wrap="square" lIns="0" rIns="0" tIns="0" bIns="0">
            <a:spAutoFit/>
          </a:bodyPr>
          <a:lstStyle/>
          <a:p>
            <a:pPr algn="ctr">
              <a:spcAft>
                <a:spcPts val="600"/>
              </a:spcAft>
              <a:defRPr sz="2000" b="1">
                <a:solidFill>
                  <a:srgbClr val="20364D"/>
                </a:solidFill>
                <a:latin typeface="Arial"/>
              </a:defRPr>
            </a:pPr>
            <a:r>
              <a:t>Сформировать</a:t>
            </a:r>
          </a:p>
          <a:p>
            <a:pPr algn="ctr">
              <a:spcAft>
                <a:spcPts val="600"/>
              </a:spcAft>
              <a:defRPr sz="2000" b="1">
                <a:solidFill>
                  <a:srgbClr val="20364D"/>
                </a:solidFill>
                <a:latin typeface="Arial"/>
              </a:defRPr>
            </a:pPr>
            <a:r>
              <a:t>маршрут</a:t>
            </a:r>
          </a:p>
        </p:txBody>
      </p:sp>
      <p:sp>
        <p:nvSpPr>
          <p:cNvPr id="42" name="Oval 41"/>
          <p:cNvSpPr/>
          <p:nvPr/>
        </p:nvSpPr>
        <p:spPr>
          <a:xfrm>
            <a:off x="3383280" y="3721608"/>
            <a:ext cx="2395728" cy="941832"/>
          </a:xfrm>
          <a:prstGeom prst="ellipse">
            <a:avLst/>
          </a:prstGeom>
          <a:solidFill>
            <a:srgbClr val="E8F3F4"/>
          </a:solidFill>
          <a:ln>
            <a:solidFill>
              <a:srgbClr val="247E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02152" y="3913632"/>
            <a:ext cx="2157984" cy="704088"/>
          </a:xfrm>
          <a:prstGeom prst="rect">
            <a:avLst/>
          </a:prstGeom>
          <a:noFill/>
        </p:spPr>
        <p:txBody>
          <a:bodyPr wrap="square" lIns="0" rIns="0" tIns="0" bIns="0">
            <a:spAutoFit/>
          </a:bodyPr>
          <a:lstStyle/>
          <a:p>
            <a:pPr algn="ctr">
              <a:spcAft>
                <a:spcPts val="600"/>
              </a:spcAft>
              <a:defRPr sz="2000" b="1">
                <a:solidFill>
                  <a:srgbClr val="20364D"/>
                </a:solidFill>
                <a:latin typeface="Arial"/>
              </a:defRPr>
            </a:pPr>
            <a:r>
              <a:t>Получить</a:t>
            </a:r>
          </a:p>
          <a:p>
            <a:pPr algn="ctr">
              <a:spcAft>
                <a:spcPts val="600"/>
              </a:spcAft>
              <a:defRPr sz="2000" b="1">
                <a:solidFill>
                  <a:srgbClr val="20364D"/>
                </a:solidFill>
                <a:latin typeface="Arial"/>
              </a:defRPr>
            </a:pPr>
            <a:r>
              <a:t>маршрут</a:t>
            </a:r>
          </a:p>
        </p:txBody>
      </p:sp>
      <p:sp>
        <p:nvSpPr>
          <p:cNvPr id="44" name="Oval 43"/>
          <p:cNvSpPr/>
          <p:nvPr/>
        </p:nvSpPr>
        <p:spPr>
          <a:xfrm>
            <a:off x="3383280" y="5001768"/>
            <a:ext cx="2395728" cy="941832"/>
          </a:xfrm>
          <a:prstGeom prst="ellipse">
            <a:avLst/>
          </a:prstGeom>
          <a:solidFill>
            <a:srgbClr val="E8F3F4"/>
          </a:solidFill>
          <a:ln>
            <a:solidFill>
              <a:srgbClr val="247E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02152" y="5193792"/>
            <a:ext cx="2157984" cy="704088"/>
          </a:xfrm>
          <a:prstGeom prst="rect">
            <a:avLst/>
          </a:prstGeom>
          <a:noFill/>
        </p:spPr>
        <p:txBody>
          <a:bodyPr wrap="square" lIns="0" rIns="0" tIns="0" bIns="0">
            <a:spAutoFit/>
          </a:bodyPr>
          <a:lstStyle/>
          <a:p>
            <a:pPr algn="ctr">
              <a:spcAft>
                <a:spcPts val="600"/>
              </a:spcAft>
              <a:defRPr sz="2000" b="1">
                <a:solidFill>
                  <a:srgbClr val="20364D"/>
                </a:solidFill>
                <a:latin typeface="Arial"/>
              </a:defRPr>
            </a:pPr>
            <a:r>
              <a:t>Оценить</a:t>
            </a:r>
          </a:p>
          <a:p>
            <a:pPr algn="ctr">
              <a:spcAft>
                <a:spcPts val="600"/>
              </a:spcAft>
              <a:defRPr sz="2000" b="1">
                <a:solidFill>
                  <a:srgbClr val="20364D"/>
                </a:solidFill>
                <a:latin typeface="Arial"/>
              </a:defRPr>
            </a:pPr>
            <a:r>
              <a:t>выполнение</a:t>
            </a:r>
          </a:p>
        </p:txBody>
      </p:sp>
      <p:sp>
        <p:nvSpPr>
          <p:cNvPr id="46" name="Oval 45"/>
          <p:cNvSpPr/>
          <p:nvPr/>
        </p:nvSpPr>
        <p:spPr>
          <a:xfrm>
            <a:off x="6455664" y="4507992"/>
            <a:ext cx="2560320" cy="1133856"/>
          </a:xfrm>
          <a:prstGeom prst="ellipse">
            <a:avLst/>
          </a:prstGeom>
          <a:solidFill>
            <a:srgbClr val="E8F3F4"/>
          </a:solidFill>
          <a:ln>
            <a:solidFill>
              <a:srgbClr val="247E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74536" y="4700016"/>
            <a:ext cx="2322576" cy="896112"/>
          </a:xfrm>
          <a:prstGeom prst="rect">
            <a:avLst/>
          </a:prstGeom>
          <a:noFill/>
        </p:spPr>
        <p:txBody>
          <a:bodyPr wrap="square" lIns="0" rIns="0" tIns="0" bIns="0">
            <a:spAutoFit/>
          </a:bodyPr>
          <a:lstStyle/>
          <a:p>
            <a:pPr algn="ctr">
              <a:spcAft>
                <a:spcPts val="600"/>
              </a:spcAft>
              <a:defRPr sz="2000" b="1">
                <a:solidFill>
                  <a:srgbClr val="20364D"/>
                </a:solidFill>
                <a:latin typeface="Arial"/>
              </a:defRPr>
            </a:pPr>
            <a:r>
              <a:t>Проверить</a:t>
            </a:r>
          </a:p>
          <a:p>
            <a:pPr algn="ctr">
              <a:spcAft>
                <a:spcPts val="600"/>
              </a:spcAft>
              <a:defRPr sz="2000" b="1">
                <a:solidFill>
                  <a:srgbClr val="20364D"/>
                </a:solidFill>
                <a:latin typeface="Arial"/>
              </a:defRPr>
            </a:pPr>
            <a:r>
              <a:t>исходные данные</a:t>
            </a:r>
          </a:p>
        </p:txBody>
      </p:sp>
      <p:cxnSp>
        <p:nvCxnSpPr>
          <p:cNvPr id="48" name="Connector 47"/>
          <p:cNvCxnSpPr/>
          <p:nvPr/>
        </p:nvCxnSpPr>
        <p:spPr>
          <a:xfrm>
            <a:off x="1609344" y="2724912"/>
            <a:ext cx="1764792" cy="173736"/>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609344" y="3941063"/>
            <a:ext cx="1764792" cy="237745"/>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609344" y="5221224"/>
            <a:ext cx="1764792" cy="237744"/>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5797296" y="2670048"/>
            <a:ext cx="4690872" cy="228600"/>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9034272" y="4700016"/>
            <a:ext cx="1453896" cy="365760"/>
          </a:xfrm>
          <a:prstGeom prst="line">
            <a:avLst/>
          </a:prstGeom>
          <a:ln w="19050">
            <a:solidFill>
              <a:srgbClr val="20364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779008" y="3273552"/>
            <a:ext cx="1069848" cy="1225296"/>
          </a:xfrm>
          <a:prstGeom prst="line">
            <a:avLst/>
          </a:prstGeom>
          <a:ln w="25400">
            <a:solidFill>
              <a:srgbClr val="247E83"/>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217920" y="3767328"/>
            <a:ext cx="1417320" cy="320040"/>
          </a:xfrm>
          <a:prstGeom prst="rect">
            <a:avLst/>
          </a:prstGeom>
          <a:noFill/>
        </p:spPr>
        <p:txBody>
          <a:bodyPr wrap="square" lIns="0" rIns="0" tIns="0" bIns="0">
            <a:spAutoFit/>
          </a:bodyPr>
          <a:lstStyle/>
          <a:p>
            <a:pPr>
              <a:spcAft>
                <a:spcPts val="600"/>
              </a:spcAft>
              <a:defRPr sz="1600" b="1">
                <a:solidFill>
                  <a:srgbClr val="247E83"/>
                </a:solidFill>
                <a:latin typeface="Arial"/>
              </a:defRPr>
            </a:pPr>
            <a:r>
              <a:t>«include»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Архитектура: слои известны только логически</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Реконструированная архитектура на основании доступного описания решения [1]. Физическая топология не установлена.</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09 / 15</a:t>
            </a:r>
          </a:p>
        </p:txBody>
      </p:sp>
      <p:sp>
        <p:nvSpPr>
          <p:cNvPr id="8" name="Rounded Rectangle 7"/>
          <p:cNvSpPr/>
          <p:nvPr/>
        </p:nvSpPr>
        <p:spPr>
          <a:xfrm>
            <a:off x="502920" y="1435608"/>
            <a:ext cx="9144000" cy="384048"/>
          </a:xfrm>
          <a:prstGeom prst="roundRect">
            <a:avLst>
              <a:gd name="adj" fmla="val 13000"/>
            </a:avLst>
          </a:prstGeom>
          <a:solidFill>
            <a:srgbClr val="FFF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513332"/>
            <a:ext cx="8924544" cy="228600"/>
          </a:xfrm>
          <a:prstGeom prst="rect">
            <a:avLst/>
          </a:prstGeom>
          <a:noFill/>
        </p:spPr>
        <p:txBody>
          <a:bodyPr wrap="square" lIns="0" rIns="0" tIns="0" bIns="0">
            <a:spAutoFit/>
          </a:bodyPr>
          <a:lstStyle/>
          <a:p>
            <a:pPr>
              <a:spcAft>
                <a:spcPts val="600"/>
              </a:spcAft>
              <a:defRPr sz="1200" b="1">
                <a:solidFill>
                  <a:srgbClr val="627387"/>
                </a:solidFill>
                <a:latin typeface="Arial"/>
              </a:defRPr>
            </a:pPr>
            <a:r>
              <a:t>РЕКОНСТРУКЦИЯ · МНОГОСЛОЙНАЯ КЛИЕНТ-СЕРВЕРНАЯ МОДЕЛЬ</a:t>
            </a:r>
          </a:p>
        </p:txBody>
      </p:sp>
      <p:sp>
        <p:nvSpPr>
          <p:cNvPr id="10" name="Rounded Rectangle 9"/>
          <p:cNvSpPr/>
          <p:nvPr/>
        </p:nvSpPr>
        <p:spPr>
          <a:xfrm>
            <a:off x="594360" y="2057400"/>
            <a:ext cx="8138160" cy="77724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267712"/>
            <a:ext cx="7680960" cy="365760"/>
          </a:xfrm>
          <a:prstGeom prst="rect">
            <a:avLst/>
          </a:prstGeom>
          <a:noFill/>
        </p:spPr>
        <p:txBody>
          <a:bodyPr wrap="square" lIns="0" rIns="0" tIns="0" bIns="0">
            <a:spAutoFit/>
          </a:bodyPr>
          <a:lstStyle/>
          <a:p>
            <a:pPr>
              <a:spcAft>
                <a:spcPts val="600"/>
              </a:spcAft>
              <a:defRPr sz="2300" b="1">
                <a:solidFill>
                  <a:srgbClr val="20364D"/>
                </a:solidFill>
                <a:latin typeface="Arial"/>
              </a:defRPr>
            </a:pPr>
            <a:r>
              <a:t>Клиенты: планировщик · водитель · руководитель</a:t>
            </a:r>
          </a:p>
        </p:txBody>
      </p:sp>
      <p:sp>
        <p:nvSpPr>
          <p:cNvPr id="12" name="Rounded Rectangle 11"/>
          <p:cNvSpPr/>
          <p:nvPr/>
        </p:nvSpPr>
        <p:spPr>
          <a:xfrm>
            <a:off x="594360" y="3264408"/>
            <a:ext cx="8138160" cy="1133856"/>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438144"/>
            <a:ext cx="7680960" cy="365760"/>
          </a:xfrm>
          <a:prstGeom prst="rect">
            <a:avLst/>
          </a:prstGeom>
          <a:noFill/>
        </p:spPr>
        <p:txBody>
          <a:bodyPr wrap="square" lIns="0" rIns="0" tIns="0" bIns="0">
            <a:spAutoFit/>
          </a:bodyPr>
          <a:lstStyle/>
          <a:p>
            <a:pPr>
              <a:spcAft>
                <a:spcPts val="600"/>
              </a:spcAft>
              <a:defRPr sz="2400" b="1">
                <a:solidFill>
                  <a:srgbClr val="247E83"/>
                </a:solidFill>
                <a:latin typeface="Arial"/>
              </a:defRPr>
            </a:pPr>
            <a:r>
              <a:t>Прикладной слой ORION</a:t>
            </a:r>
          </a:p>
        </p:txBody>
      </p:sp>
      <p:sp>
        <p:nvSpPr>
          <p:cNvPr id="14" name="TextBox 13"/>
          <p:cNvSpPr txBox="1"/>
          <p:nvPr/>
        </p:nvSpPr>
        <p:spPr>
          <a:xfrm>
            <a:off x="822960" y="3913632"/>
            <a:ext cx="7680960" cy="320040"/>
          </a:xfrm>
          <a:prstGeom prst="rect">
            <a:avLst/>
          </a:prstGeom>
          <a:noFill/>
        </p:spPr>
        <p:txBody>
          <a:bodyPr wrap="square" lIns="0" rIns="0" tIns="0" bIns="0">
            <a:spAutoFit/>
          </a:bodyPr>
          <a:lstStyle/>
          <a:p>
            <a:pPr>
              <a:spcAft>
                <a:spcPts val="600"/>
              </a:spcAft>
              <a:defRPr sz="1900" b="0">
                <a:solidFill>
                  <a:srgbClr val="20364D"/>
                </a:solidFill>
                <a:latin typeface="Arial"/>
              </a:defRPr>
            </a:pPr>
            <a:r>
              <a:t>Проверка входов → собственное ядро UPS → выдача маршрута</a:t>
            </a:r>
          </a:p>
        </p:txBody>
      </p:sp>
      <p:sp>
        <p:nvSpPr>
          <p:cNvPr id="15" name="Rounded Rectangle 14"/>
          <p:cNvSpPr/>
          <p:nvPr/>
        </p:nvSpPr>
        <p:spPr>
          <a:xfrm>
            <a:off x="594360" y="4855464"/>
            <a:ext cx="8138160" cy="86868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120640"/>
            <a:ext cx="7680960" cy="402336"/>
          </a:xfrm>
          <a:prstGeom prst="rect">
            <a:avLst/>
          </a:prstGeom>
          <a:noFill/>
        </p:spPr>
        <p:txBody>
          <a:bodyPr wrap="square" lIns="0" rIns="0" tIns="0" bIns="0">
            <a:spAutoFit/>
          </a:bodyPr>
          <a:lstStyle/>
          <a:p>
            <a:pPr>
              <a:spcAft>
                <a:spcPts val="600"/>
              </a:spcAft>
              <a:defRPr sz="2200" b="1">
                <a:solidFill>
                  <a:srgbClr val="20364D"/>
                </a:solidFill>
                <a:latin typeface="Arial"/>
              </a:defRPr>
            </a:pPr>
            <a:r>
              <a:t>Данные: задания · ограничения · версии маршрутов</a:t>
            </a:r>
          </a:p>
        </p:txBody>
      </p:sp>
      <p:cxnSp>
        <p:nvCxnSpPr>
          <p:cNvPr id="17" name="Connector 16"/>
          <p:cNvCxnSpPr/>
          <p:nvPr/>
        </p:nvCxnSpPr>
        <p:spPr>
          <a:xfrm>
            <a:off x="4663440" y="2834640"/>
            <a:ext cx="0" cy="393192"/>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63440" y="4416552"/>
            <a:ext cx="0" cy="402336"/>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98864" y="2084831"/>
            <a:ext cx="2459736" cy="109728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63456" y="2276856"/>
            <a:ext cx="2148840" cy="685800"/>
          </a:xfrm>
          <a:prstGeom prst="rect">
            <a:avLst/>
          </a:prstGeom>
          <a:noFill/>
        </p:spPr>
        <p:txBody>
          <a:bodyPr wrap="square" lIns="0" rIns="0" tIns="0" bIns="0">
            <a:spAutoFit/>
          </a:bodyPr>
          <a:lstStyle/>
          <a:p>
            <a:pPr>
              <a:spcAft>
                <a:spcPts val="600"/>
              </a:spcAft>
              <a:defRPr sz="1700" b="1">
                <a:solidFill>
                  <a:srgbClr val="20364D"/>
                </a:solidFill>
                <a:latin typeface="Arial"/>
              </a:defRPr>
            </a:pPr>
            <a:r>
              <a:t>PFT</a:t>
            </a:r>
          </a:p>
          <a:p>
            <a:pPr>
              <a:spcAft>
                <a:spcPts val="600"/>
              </a:spcAft>
              <a:defRPr sz="1700" b="1">
                <a:solidFill>
                  <a:srgbClr val="20364D"/>
                </a:solidFill>
                <a:latin typeface="Arial"/>
              </a:defRPr>
            </a:pPr>
            <a:r>
              <a:t>Подтверждено [1]</a:t>
            </a:r>
          </a:p>
        </p:txBody>
      </p:sp>
      <p:sp>
        <p:nvSpPr>
          <p:cNvPr id="21" name="Rounded Rectangle 20"/>
          <p:cNvSpPr/>
          <p:nvPr/>
        </p:nvSpPr>
        <p:spPr>
          <a:xfrm>
            <a:off x="9198864" y="3685032"/>
            <a:ext cx="2459736" cy="109728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3456" y="3877056"/>
            <a:ext cx="2148840" cy="704088"/>
          </a:xfrm>
          <a:prstGeom prst="rect">
            <a:avLst/>
          </a:prstGeom>
          <a:noFill/>
        </p:spPr>
        <p:txBody>
          <a:bodyPr wrap="square" lIns="0" rIns="0" tIns="0" bIns="0">
            <a:spAutoFit/>
          </a:bodyPr>
          <a:lstStyle/>
          <a:p>
            <a:pPr>
              <a:spcAft>
                <a:spcPts val="600"/>
              </a:spcAft>
              <a:defRPr sz="1700" b="1">
                <a:solidFill>
                  <a:srgbClr val="20364D"/>
                </a:solidFill>
                <a:latin typeface="Arial"/>
              </a:defRPr>
            </a:pPr>
            <a:r>
              <a:t>Карты</a:t>
            </a:r>
          </a:p>
          <a:p>
            <a:pPr>
              <a:spcAft>
                <a:spcPts val="600"/>
              </a:spcAft>
              <a:defRPr sz="1700" b="1">
                <a:solidFill>
                  <a:srgbClr val="20364D"/>
                </a:solidFill>
                <a:latin typeface="Arial"/>
              </a:defRPr>
            </a:pPr>
            <a:r>
              <a:t>Подтверждено [1]</a:t>
            </a:r>
          </a:p>
        </p:txBody>
      </p:sp>
      <p:cxnSp>
        <p:nvCxnSpPr>
          <p:cNvPr id="23" name="Connector 22"/>
          <p:cNvCxnSpPr/>
          <p:nvPr/>
        </p:nvCxnSpPr>
        <p:spPr>
          <a:xfrm flipH="1">
            <a:off x="8750808" y="2880360"/>
            <a:ext cx="420624" cy="667512"/>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8750808" y="3922776"/>
            <a:ext cx="420624" cy="301752"/>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5989320"/>
            <a:ext cx="10881360" cy="310896"/>
          </a:xfrm>
          <a:prstGeom prst="rect">
            <a:avLst/>
          </a:prstGeom>
          <a:noFill/>
        </p:spPr>
        <p:txBody>
          <a:bodyPr wrap="square" lIns="0" rIns="0" tIns="0" bIns="0">
            <a:spAutoFit/>
          </a:bodyPr>
          <a:lstStyle/>
          <a:p>
            <a:pPr>
              <a:spcAft>
                <a:spcPts val="600"/>
              </a:spcAft>
              <a:defRPr sz="1900" b="0">
                <a:solidFill>
                  <a:srgbClr val="627387"/>
                </a:solidFill>
                <a:latin typeface="Arial"/>
              </a:defRPr>
            </a:pPr>
            <a:r>
              <a:t>Облако? СУБД? Микросервисы? В найденных источниках не установлены.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ЖЦ: итерации разработки, внедрение по частям</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Наиболее подходящая модель ЖЦ, а не установленная методология UPS. Полевые тесты и критерии площадок — факт [1].</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10 / 15</a:t>
            </a:r>
          </a:p>
        </p:txBody>
      </p:sp>
      <p:sp>
        <p:nvSpPr>
          <p:cNvPr id="8" name="Rounded Rectangle 7"/>
          <p:cNvSpPr/>
          <p:nvPr/>
        </p:nvSpPr>
        <p:spPr>
          <a:xfrm>
            <a:off x="502920" y="1920240"/>
            <a:ext cx="2039112" cy="1335024"/>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084831"/>
            <a:ext cx="914400" cy="310896"/>
          </a:xfrm>
          <a:prstGeom prst="rect">
            <a:avLst/>
          </a:prstGeom>
          <a:noFill/>
        </p:spPr>
        <p:txBody>
          <a:bodyPr wrap="square" lIns="0" rIns="0" tIns="0" bIns="0">
            <a:spAutoFit/>
          </a:bodyPr>
          <a:lstStyle/>
          <a:p>
            <a:pPr>
              <a:spcAft>
                <a:spcPts val="600"/>
              </a:spcAft>
              <a:defRPr sz="1700" b="1">
                <a:solidFill>
                  <a:srgbClr val="247E83"/>
                </a:solidFill>
                <a:latin typeface="Arial"/>
              </a:defRPr>
            </a:pPr>
            <a:r>
              <a:t>01</a:t>
            </a:r>
          </a:p>
        </p:txBody>
      </p:sp>
      <p:sp>
        <p:nvSpPr>
          <p:cNvPr id="10" name="TextBox 9"/>
          <p:cNvSpPr txBox="1"/>
          <p:nvPr/>
        </p:nvSpPr>
        <p:spPr>
          <a:xfrm>
            <a:off x="594360" y="2523744"/>
            <a:ext cx="1856231" cy="667512"/>
          </a:xfrm>
          <a:prstGeom prst="rect">
            <a:avLst/>
          </a:prstGeom>
          <a:noFill/>
        </p:spPr>
        <p:txBody>
          <a:bodyPr wrap="square" lIns="0" rIns="0" tIns="0" bIns="0">
            <a:spAutoFit/>
          </a:bodyPr>
          <a:lstStyle/>
          <a:p>
            <a:pPr>
              <a:spcAft>
                <a:spcPts val="600"/>
              </a:spcAft>
              <a:defRPr sz="1650" b="1">
                <a:solidFill>
                  <a:srgbClr val="20364D"/>
                </a:solidFill>
                <a:latin typeface="Arial"/>
              </a:defRPr>
            </a:pPr>
            <a:r>
              <a:t>Анализ</a:t>
            </a:r>
          </a:p>
          <a:p>
            <a:pPr>
              <a:spcAft>
                <a:spcPts val="600"/>
              </a:spcAft>
              <a:defRPr sz="1650" b="1">
                <a:solidFill>
                  <a:srgbClr val="20364D"/>
                </a:solidFill>
                <a:latin typeface="Arial"/>
              </a:defRPr>
            </a:pPr>
            <a:r>
              <a:t>требований</a:t>
            </a:r>
          </a:p>
        </p:txBody>
      </p:sp>
      <p:cxnSp>
        <p:nvCxnSpPr>
          <p:cNvPr id="11" name="Connector 10"/>
          <p:cNvCxnSpPr/>
          <p:nvPr/>
        </p:nvCxnSpPr>
        <p:spPr>
          <a:xfrm>
            <a:off x="2542032" y="2560320"/>
            <a:ext cx="210312"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70632" y="1920240"/>
            <a:ext cx="2039112" cy="1335024"/>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2084831"/>
            <a:ext cx="914400" cy="310896"/>
          </a:xfrm>
          <a:prstGeom prst="rect">
            <a:avLst/>
          </a:prstGeom>
          <a:noFill/>
        </p:spPr>
        <p:txBody>
          <a:bodyPr wrap="square" lIns="0" rIns="0" tIns="0" bIns="0">
            <a:spAutoFit/>
          </a:bodyPr>
          <a:lstStyle/>
          <a:p>
            <a:pPr>
              <a:spcAft>
                <a:spcPts val="600"/>
              </a:spcAft>
              <a:defRPr sz="1700" b="1">
                <a:solidFill>
                  <a:srgbClr val="247E83"/>
                </a:solidFill>
                <a:latin typeface="Arial"/>
              </a:defRPr>
            </a:pPr>
            <a:r>
              <a:t>02</a:t>
            </a:r>
          </a:p>
        </p:txBody>
      </p:sp>
      <p:sp>
        <p:nvSpPr>
          <p:cNvPr id="14" name="TextBox 13"/>
          <p:cNvSpPr txBox="1"/>
          <p:nvPr/>
        </p:nvSpPr>
        <p:spPr>
          <a:xfrm>
            <a:off x="2862072" y="2523744"/>
            <a:ext cx="1856231" cy="667512"/>
          </a:xfrm>
          <a:prstGeom prst="rect">
            <a:avLst/>
          </a:prstGeom>
          <a:noFill/>
        </p:spPr>
        <p:txBody>
          <a:bodyPr wrap="square" lIns="0" rIns="0" tIns="0" bIns="0">
            <a:spAutoFit/>
          </a:bodyPr>
          <a:lstStyle/>
          <a:p>
            <a:pPr>
              <a:spcAft>
                <a:spcPts val="600"/>
              </a:spcAft>
              <a:defRPr sz="1650" b="1">
                <a:solidFill>
                  <a:srgbClr val="20364D"/>
                </a:solidFill>
                <a:latin typeface="Arial"/>
              </a:defRPr>
            </a:pPr>
            <a:r>
              <a:t>Проектирование</a:t>
            </a:r>
          </a:p>
        </p:txBody>
      </p:sp>
      <p:cxnSp>
        <p:nvCxnSpPr>
          <p:cNvPr id="15" name="Connector 14"/>
          <p:cNvCxnSpPr/>
          <p:nvPr/>
        </p:nvCxnSpPr>
        <p:spPr>
          <a:xfrm>
            <a:off x="4809744" y="2560320"/>
            <a:ext cx="210312"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38344" y="1920240"/>
            <a:ext cx="2039112" cy="1335024"/>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3792" y="2084831"/>
            <a:ext cx="914400" cy="310896"/>
          </a:xfrm>
          <a:prstGeom prst="rect">
            <a:avLst/>
          </a:prstGeom>
          <a:noFill/>
        </p:spPr>
        <p:txBody>
          <a:bodyPr wrap="square" lIns="0" rIns="0" tIns="0" bIns="0">
            <a:spAutoFit/>
          </a:bodyPr>
          <a:lstStyle/>
          <a:p>
            <a:pPr>
              <a:spcAft>
                <a:spcPts val="600"/>
              </a:spcAft>
              <a:defRPr sz="1700" b="1">
                <a:solidFill>
                  <a:srgbClr val="247E83"/>
                </a:solidFill>
                <a:latin typeface="Arial"/>
              </a:defRPr>
            </a:pPr>
            <a:r>
              <a:t>03</a:t>
            </a:r>
          </a:p>
        </p:txBody>
      </p:sp>
      <p:sp>
        <p:nvSpPr>
          <p:cNvPr id="18" name="TextBox 17"/>
          <p:cNvSpPr txBox="1"/>
          <p:nvPr/>
        </p:nvSpPr>
        <p:spPr>
          <a:xfrm>
            <a:off x="5129783" y="2523744"/>
            <a:ext cx="1856231" cy="667512"/>
          </a:xfrm>
          <a:prstGeom prst="rect">
            <a:avLst/>
          </a:prstGeom>
          <a:noFill/>
        </p:spPr>
        <p:txBody>
          <a:bodyPr wrap="square" lIns="0" rIns="0" tIns="0" bIns="0">
            <a:spAutoFit/>
          </a:bodyPr>
          <a:lstStyle/>
          <a:p>
            <a:pPr>
              <a:spcAft>
                <a:spcPts val="600"/>
              </a:spcAft>
              <a:defRPr sz="1650" b="1">
                <a:solidFill>
                  <a:srgbClr val="20364D"/>
                </a:solidFill>
                <a:latin typeface="Arial"/>
              </a:defRPr>
            </a:pPr>
            <a:r>
              <a:t>Реализация</a:t>
            </a:r>
          </a:p>
          <a:p>
            <a:pPr>
              <a:spcAft>
                <a:spcPts val="600"/>
              </a:spcAft>
              <a:defRPr sz="1650" b="1">
                <a:solidFill>
                  <a:srgbClr val="20364D"/>
                </a:solidFill>
                <a:latin typeface="Arial"/>
              </a:defRPr>
            </a:pPr>
            <a:r>
              <a:t>и проверки</a:t>
            </a:r>
          </a:p>
        </p:txBody>
      </p:sp>
      <p:cxnSp>
        <p:nvCxnSpPr>
          <p:cNvPr id="19" name="Connector 18"/>
          <p:cNvCxnSpPr/>
          <p:nvPr/>
        </p:nvCxnSpPr>
        <p:spPr>
          <a:xfrm>
            <a:off x="7077456" y="2560320"/>
            <a:ext cx="210312"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06055" y="1920240"/>
            <a:ext cx="2039112" cy="1335024"/>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084831"/>
            <a:ext cx="914400" cy="310896"/>
          </a:xfrm>
          <a:prstGeom prst="rect">
            <a:avLst/>
          </a:prstGeom>
          <a:noFill/>
        </p:spPr>
        <p:txBody>
          <a:bodyPr wrap="square" lIns="0" rIns="0" tIns="0" bIns="0">
            <a:spAutoFit/>
          </a:bodyPr>
          <a:lstStyle/>
          <a:p>
            <a:pPr>
              <a:spcAft>
                <a:spcPts val="600"/>
              </a:spcAft>
              <a:defRPr sz="1700" b="1">
                <a:solidFill>
                  <a:srgbClr val="247E83"/>
                </a:solidFill>
                <a:latin typeface="Arial"/>
              </a:defRPr>
            </a:pPr>
            <a:r>
              <a:t>04</a:t>
            </a:r>
          </a:p>
        </p:txBody>
      </p:sp>
      <p:sp>
        <p:nvSpPr>
          <p:cNvPr id="22" name="TextBox 21"/>
          <p:cNvSpPr txBox="1"/>
          <p:nvPr/>
        </p:nvSpPr>
        <p:spPr>
          <a:xfrm>
            <a:off x="7397496" y="2523744"/>
            <a:ext cx="1856231" cy="667512"/>
          </a:xfrm>
          <a:prstGeom prst="rect">
            <a:avLst/>
          </a:prstGeom>
          <a:noFill/>
        </p:spPr>
        <p:txBody>
          <a:bodyPr wrap="square" lIns="0" rIns="0" tIns="0" bIns="0">
            <a:spAutoFit/>
          </a:bodyPr>
          <a:lstStyle/>
          <a:p>
            <a:pPr>
              <a:spcAft>
                <a:spcPts val="600"/>
              </a:spcAft>
              <a:defRPr sz="1650" b="1">
                <a:solidFill>
                  <a:srgbClr val="20364D"/>
                </a:solidFill>
                <a:latin typeface="Arial"/>
              </a:defRPr>
            </a:pPr>
            <a:r>
              <a:t>Внедрение</a:t>
            </a:r>
          </a:p>
        </p:txBody>
      </p:sp>
      <p:cxnSp>
        <p:nvCxnSpPr>
          <p:cNvPr id="23" name="Connector 22"/>
          <p:cNvCxnSpPr/>
          <p:nvPr/>
        </p:nvCxnSpPr>
        <p:spPr>
          <a:xfrm>
            <a:off x="9345167" y="2560320"/>
            <a:ext cx="210313"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573768" y="1920240"/>
            <a:ext cx="2039112" cy="1335024"/>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9216" y="2084831"/>
            <a:ext cx="914400" cy="310896"/>
          </a:xfrm>
          <a:prstGeom prst="rect">
            <a:avLst/>
          </a:prstGeom>
          <a:noFill/>
        </p:spPr>
        <p:txBody>
          <a:bodyPr wrap="square" lIns="0" rIns="0" tIns="0" bIns="0">
            <a:spAutoFit/>
          </a:bodyPr>
          <a:lstStyle/>
          <a:p>
            <a:pPr>
              <a:spcAft>
                <a:spcPts val="600"/>
              </a:spcAft>
              <a:defRPr sz="1700" b="1">
                <a:solidFill>
                  <a:srgbClr val="247E83"/>
                </a:solidFill>
                <a:latin typeface="Arial"/>
              </a:defRPr>
            </a:pPr>
            <a:r>
              <a:t>05</a:t>
            </a:r>
          </a:p>
        </p:txBody>
      </p:sp>
      <p:sp>
        <p:nvSpPr>
          <p:cNvPr id="26" name="TextBox 25"/>
          <p:cNvSpPr txBox="1"/>
          <p:nvPr/>
        </p:nvSpPr>
        <p:spPr>
          <a:xfrm>
            <a:off x="9665208" y="2523744"/>
            <a:ext cx="1856231" cy="667512"/>
          </a:xfrm>
          <a:prstGeom prst="rect">
            <a:avLst/>
          </a:prstGeom>
          <a:noFill/>
        </p:spPr>
        <p:txBody>
          <a:bodyPr wrap="square" lIns="0" rIns="0" tIns="0" bIns="0">
            <a:spAutoFit/>
          </a:bodyPr>
          <a:lstStyle/>
          <a:p>
            <a:pPr>
              <a:spcAft>
                <a:spcPts val="600"/>
              </a:spcAft>
              <a:defRPr sz="1650" b="1">
                <a:solidFill>
                  <a:srgbClr val="20364D"/>
                </a:solidFill>
                <a:latin typeface="Arial"/>
              </a:defRPr>
            </a:pPr>
            <a:r>
              <a:t>Эксплуатация</a:t>
            </a:r>
          </a:p>
        </p:txBody>
      </p:sp>
      <p:cxnSp>
        <p:nvCxnSpPr>
          <p:cNvPr id="27" name="Connector 26"/>
          <p:cNvCxnSpPr/>
          <p:nvPr/>
        </p:nvCxnSpPr>
        <p:spPr>
          <a:xfrm flipH="1">
            <a:off x="3794760" y="3703320"/>
            <a:ext cx="2148840"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880360" y="3922776"/>
            <a:ext cx="4572000" cy="365760"/>
          </a:xfrm>
          <a:prstGeom prst="rect">
            <a:avLst/>
          </a:prstGeom>
          <a:noFill/>
        </p:spPr>
        <p:txBody>
          <a:bodyPr wrap="square" lIns="0" rIns="0" tIns="0" bIns="0">
            <a:spAutoFit/>
          </a:bodyPr>
          <a:lstStyle/>
          <a:p>
            <a:pPr>
              <a:spcAft>
                <a:spcPts val="600"/>
              </a:spcAft>
              <a:defRPr sz="2000" b="1">
                <a:solidFill>
                  <a:srgbClr val="247E83"/>
                </a:solidFill>
                <a:latin typeface="Arial"/>
              </a:defRPr>
            </a:pPr>
            <a:r>
              <a:t>Обратная связь полевых тестов</a:t>
            </a:r>
          </a:p>
        </p:txBody>
      </p:sp>
      <p:sp>
        <p:nvSpPr>
          <p:cNvPr id="29" name="Rounded Rectangle 28"/>
          <p:cNvSpPr/>
          <p:nvPr/>
        </p:nvSpPr>
        <p:spPr>
          <a:xfrm>
            <a:off x="502920" y="4663440"/>
            <a:ext cx="5376672" cy="1472184"/>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4846320"/>
            <a:ext cx="4974336"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Перед площадкой</a:t>
            </a:r>
          </a:p>
        </p:txBody>
      </p:sp>
      <p:sp>
        <p:nvSpPr>
          <p:cNvPr id="31" name="TextBox 30"/>
          <p:cNvSpPr txBox="1"/>
          <p:nvPr/>
        </p:nvSpPr>
        <p:spPr>
          <a:xfrm>
            <a:off x="704088" y="5696712"/>
            <a:ext cx="4974336" cy="329184"/>
          </a:xfrm>
          <a:prstGeom prst="rect">
            <a:avLst/>
          </a:prstGeom>
          <a:noFill/>
        </p:spPr>
        <p:txBody>
          <a:bodyPr wrap="square" lIns="0" rIns="0" tIns="0" bIns="0">
            <a:spAutoFit/>
          </a:bodyPr>
          <a:lstStyle/>
          <a:p>
            <a:pPr>
              <a:spcAft>
                <a:spcPts val="600"/>
              </a:spcAft>
              <a:defRPr sz="2100" b="0">
                <a:solidFill>
                  <a:srgbClr val="20364D"/>
                </a:solidFill>
                <a:latin typeface="Arial"/>
              </a:defRPr>
            </a:pPr>
            <a:r>
              <a:t>Данные и персонал готовы</a:t>
            </a:r>
          </a:p>
        </p:txBody>
      </p:sp>
      <p:sp>
        <p:nvSpPr>
          <p:cNvPr id="32" name="Rounded Rectangle 31"/>
          <p:cNvSpPr/>
          <p:nvPr/>
        </p:nvSpPr>
        <p:spPr>
          <a:xfrm>
            <a:off x="6163056" y="4663440"/>
            <a:ext cx="5495544" cy="1472184"/>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64224" y="4846320"/>
            <a:ext cx="5093207"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После площадки</a:t>
            </a:r>
          </a:p>
        </p:txBody>
      </p:sp>
      <p:sp>
        <p:nvSpPr>
          <p:cNvPr id="34" name="TextBox 33"/>
          <p:cNvSpPr txBox="1"/>
          <p:nvPr/>
        </p:nvSpPr>
        <p:spPr>
          <a:xfrm>
            <a:off x="6364224" y="5696712"/>
            <a:ext cx="5093207" cy="329184"/>
          </a:xfrm>
          <a:prstGeom prst="rect">
            <a:avLst/>
          </a:prstGeom>
          <a:noFill/>
        </p:spPr>
        <p:txBody>
          <a:bodyPr wrap="square" lIns="0" rIns="0" tIns="0" bIns="0">
            <a:spAutoFit/>
          </a:bodyPr>
          <a:lstStyle/>
          <a:p>
            <a:pPr>
              <a:spcAft>
                <a:spcPts val="600"/>
              </a:spcAft>
              <a:defRPr sz="2100" b="0">
                <a:solidFill>
                  <a:srgbClr val="20364D"/>
                </a:solidFill>
                <a:latin typeface="Arial"/>
              </a:defRPr>
            </a:pPr>
            <a:r>
              <a:t>Критерии приемки выполнены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График проекта: что подтверждено источниками</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Исторический Гант: [1], [5]. Период и вехи показаны с точностью до года. Учебный график площадки — отдельный файл.</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11 / 15</a:t>
            </a:r>
          </a:p>
        </p:txBody>
      </p:sp>
      <p:sp>
        <p:nvSpPr>
          <p:cNvPr id="8" name="TextBox 7"/>
          <p:cNvSpPr txBox="1"/>
          <p:nvPr/>
        </p:nvSpPr>
        <p:spPr>
          <a:xfrm>
            <a:off x="594360" y="1481328"/>
            <a:ext cx="10972800" cy="393192"/>
          </a:xfrm>
          <a:prstGeom prst="rect">
            <a:avLst/>
          </a:prstGeom>
          <a:noFill/>
        </p:spPr>
        <p:txBody>
          <a:bodyPr wrap="square" lIns="0" rIns="0" tIns="0" bIns="0">
            <a:spAutoFit/>
          </a:bodyPr>
          <a:lstStyle/>
          <a:p>
            <a:pPr>
              <a:spcAft>
                <a:spcPts val="600"/>
              </a:spcAft>
              <a:defRPr sz="2300" b="1">
                <a:solidFill>
                  <a:srgbClr val="247E83"/>
                </a:solidFill>
                <a:latin typeface="Arial"/>
              </a:defRPr>
            </a:pPr>
            <a:r>
              <a:t>Прототипирование → запуск → распространение решения</a:t>
            </a:r>
          </a:p>
        </p:txBody>
      </p:sp>
      <p:pic>
        <p:nvPicPr>
          <p:cNvPr id="9" name="Picture 8" descr="gantt.png"/>
          <p:cNvPicPr>
            <a:picLocks noChangeAspect="1"/>
          </p:cNvPicPr>
          <p:nvPr/>
        </p:nvPicPr>
        <p:blipFill>
          <a:blip r:embed="rId3"/>
          <a:stretch>
            <a:fillRect/>
          </a:stretch>
        </p:blipFill>
        <p:spPr>
          <a:xfrm>
            <a:off x="502919" y="2140200"/>
            <a:ext cx="11155680" cy="40406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Результат: меньше пробег и стоимость обслуживания</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Оценки UPS, опубликованные в интервью 2017 года [1]. Эффект ORION отдельно от PFT; не независимый аудит.</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12 / 15</a:t>
            </a:r>
          </a:p>
        </p:txBody>
      </p:sp>
      <p:pic>
        <p:nvPicPr>
          <p:cNvPr id="8" name="Picture 7" descr="results.png"/>
          <p:cNvPicPr>
            <a:picLocks noChangeAspect="1"/>
          </p:cNvPicPr>
          <p:nvPr/>
        </p:nvPicPr>
        <p:blipFill>
          <a:blip r:embed="rId3"/>
          <a:stretch>
            <a:fillRect/>
          </a:stretch>
        </p:blipFill>
        <p:spPr>
          <a:xfrm>
            <a:off x="502920" y="1668894"/>
            <a:ext cx="11155680" cy="3931690"/>
          </a:xfrm>
          <a:prstGeom prst="rect">
            <a:avLst/>
          </a:prstGeom>
        </p:spPr>
      </p:pic>
      <p:sp>
        <p:nvSpPr>
          <p:cNvPr id="9" name="TextBox 8"/>
          <p:cNvSpPr txBox="1"/>
          <p:nvPr/>
        </p:nvSpPr>
        <p:spPr>
          <a:xfrm>
            <a:off x="640080" y="5870448"/>
            <a:ext cx="10881360" cy="347472"/>
          </a:xfrm>
          <a:prstGeom prst="rect">
            <a:avLst/>
          </a:prstGeom>
          <a:noFill/>
        </p:spPr>
        <p:txBody>
          <a:bodyPr wrap="square" lIns="0" rIns="0" tIns="0" bIns="0">
            <a:spAutoFit/>
          </a:bodyPr>
          <a:lstStyle/>
          <a:p>
            <a:pPr>
              <a:spcAft>
                <a:spcPts val="600"/>
              </a:spcAft>
              <a:defRPr sz="2100" b="0">
                <a:solidFill>
                  <a:srgbClr val="627387"/>
                </a:solidFill>
                <a:latin typeface="Arial"/>
              </a:defRPr>
            </a:pPr>
            <a:r>
              <a:t>Нет абсолютной базы → нельзя честно показать процент снижения или ROI.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Развитие: прогноз времени остановки и его риска</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Авторское предложение. Не утверждение о текущих возможностях UPS и не обещание измеренного эффекта.</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13 / 15</a:t>
            </a:r>
          </a:p>
        </p:txBody>
      </p:sp>
      <p:sp>
        <p:nvSpPr>
          <p:cNvPr id="8" name="Rounded Rectangle 7"/>
          <p:cNvSpPr/>
          <p:nvPr/>
        </p:nvSpPr>
        <p:spPr>
          <a:xfrm>
            <a:off x="502920" y="1837943"/>
            <a:ext cx="2633472" cy="260604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020824"/>
            <a:ext cx="2231136"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Данные</a:t>
            </a:r>
          </a:p>
        </p:txBody>
      </p:sp>
      <p:sp>
        <p:nvSpPr>
          <p:cNvPr id="10" name="TextBox 9"/>
          <p:cNvSpPr txBox="1"/>
          <p:nvPr/>
        </p:nvSpPr>
        <p:spPr>
          <a:xfrm>
            <a:off x="704088" y="2871215"/>
            <a:ext cx="2231136" cy="1463040"/>
          </a:xfrm>
          <a:prstGeom prst="rect">
            <a:avLst/>
          </a:prstGeom>
          <a:noFill/>
        </p:spPr>
        <p:txBody>
          <a:bodyPr wrap="square" lIns="0" rIns="0" tIns="0" bIns="0">
            <a:spAutoFit/>
          </a:bodyPr>
          <a:lstStyle/>
          <a:p>
            <a:pPr>
              <a:spcAft>
                <a:spcPts val="600"/>
              </a:spcAft>
              <a:defRPr sz="2100" b="0">
                <a:solidFill>
                  <a:srgbClr val="20364D"/>
                </a:solidFill>
                <a:latin typeface="Arial"/>
              </a:defRPr>
            </a:pPr>
            <a:r>
              <a:t>История остановок</a:t>
            </a:r>
          </a:p>
          <a:p>
            <a:pPr>
              <a:spcAft>
                <a:spcPts val="600"/>
              </a:spcAft>
              <a:defRPr sz="2100" b="0">
                <a:solidFill>
                  <a:srgbClr val="20364D"/>
                </a:solidFill>
                <a:latin typeface="Arial"/>
              </a:defRPr>
            </a:pPr>
            <a:r>
              <a:t>Контекст маршрута</a:t>
            </a:r>
          </a:p>
        </p:txBody>
      </p:sp>
      <p:cxnSp>
        <p:nvCxnSpPr>
          <p:cNvPr id="11" name="Connector 10"/>
          <p:cNvCxnSpPr/>
          <p:nvPr/>
        </p:nvCxnSpPr>
        <p:spPr>
          <a:xfrm>
            <a:off x="3136391" y="3218688"/>
            <a:ext cx="164593"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37560" y="1837943"/>
            <a:ext cx="2633472" cy="2606040"/>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38728" y="2020824"/>
            <a:ext cx="2231136"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Машинное обучение</a:t>
            </a:r>
          </a:p>
        </p:txBody>
      </p:sp>
      <p:sp>
        <p:nvSpPr>
          <p:cNvPr id="14" name="TextBox 13"/>
          <p:cNvSpPr txBox="1"/>
          <p:nvPr/>
        </p:nvSpPr>
        <p:spPr>
          <a:xfrm>
            <a:off x="3538728" y="2871215"/>
            <a:ext cx="2231136" cy="1463040"/>
          </a:xfrm>
          <a:prstGeom prst="rect">
            <a:avLst/>
          </a:prstGeom>
          <a:noFill/>
        </p:spPr>
        <p:txBody>
          <a:bodyPr wrap="square" lIns="0" rIns="0" tIns="0" bIns="0">
            <a:spAutoFit/>
          </a:bodyPr>
          <a:lstStyle/>
          <a:p>
            <a:pPr>
              <a:spcAft>
                <a:spcPts val="600"/>
              </a:spcAft>
              <a:defRPr sz="2100" b="0">
                <a:solidFill>
                  <a:srgbClr val="20364D"/>
                </a:solidFill>
                <a:latin typeface="Arial"/>
              </a:defRPr>
            </a:pPr>
            <a:r>
              <a:t>Время +</a:t>
            </a:r>
          </a:p>
          <a:p>
            <a:pPr>
              <a:spcAft>
                <a:spcPts val="600"/>
              </a:spcAft>
              <a:defRPr sz="2100" b="0">
                <a:solidFill>
                  <a:srgbClr val="20364D"/>
                </a:solidFill>
                <a:latin typeface="Arial"/>
              </a:defRPr>
            </a:pPr>
            <a:r>
              <a:t>неопределенность</a:t>
            </a:r>
          </a:p>
        </p:txBody>
      </p:sp>
      <p:cxnSp>
        <p:nvCxnSpPr>
          <p:cNvPr id="15" name="Connector 14"/>
          <p:cNvCxnSpPr/>
          <p:nvPr/>
        </p:nvCxnSpPr>
        <p:spPr>
          <a:xfrm>
            <a:off x="5971032" y="3218688"/>
            <a:ext cx="164592"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72200" y="1837943"/>
            <a:ext cx="2633472" cy="260604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2020824"/>
            <a:ext cx="2231136"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Оптимизатор</a:t>
            </a:r>
          </a:p>
        </p:txBody>
      </p:sp>
      <p:sp>
        <p:nvSpPr>
          <p:cNvPr id="18" name="TextBox 17"/>
          <p:cNvSpPr txBox="1"/>
          <p:nvPr/>
        </p:nvSpPr>
        <p:spPr>
          <a:xfrm>
            <a:off x="6373368" y="2871215"/>
            <a:ext cx="2231136" cy="1463040"/>
          </a:xfrm>
          <a:prstGeom prst="rect">
            <a:avLst/>
          </a:prstGeom>
          <a:noFill/>
        </p:spPr>
        <p:txBody>
          <a:bodyPr wrap="square" lIns="0" rIns="0" tIns="0" bIns="0">
            <a:spAutoFit/>
          </a:bodyPr>
          <a:lstStyle/>
          <a:p>
            <a:pPr>
              <a:spcAft>
                <a:spcPts val="600"/>
              </a:spcAft>
              <a:defRPr sz="2100" b="0">
                <a:solidFill>
                  <a:srgbClr val="20364D"/>
                </a:solidFill>
                <a:latin typeface="Arial"/>
              </a:defRPr>
            </a:pPr>
            <a:r>
              <a:t>Резерв времени</a:t>
            </a:r>
          </a:p>
          <a:p>
            <a:pPr>
              <a:spcAft>
                <a:spcPts val="600"/>
              </a:spcAft>
              <a:defRPr sz="2100" b="0">
                <a:solidFill>
                  <a:srgbClr val="20364D"/>
                </a:solidFill>
                <a:latin typeface="Arial"/>
              </a:defRPr>
            </a:pPr>
            <a:r>
              <a:t>при высоком риске</a:t>
            </a:r>
          </a:p>
        </p:txBody>
      </p:sp>
      <p:cxnSp>
        <p:nvCxnSpPr>
          <p:cNvPr id="19" name="Connector 18"/>
          <p:cNvCxnSpPr/>
          <p:nvPr/>
        </p:nvCxnSpPr>
        <p:spPr>
          <a:xfrm>
            <a:off x="8805672" y="3218688"/>
            <a:ext cx="164592" cy="0"/>
          </a:xfrm>
          <a:prstGeom prst="line">
            <a:avLst/>
          </a:prstGeom>
          <a:ln w="25400">
            <a:solidFill>
              <a:srgbClr val="247E83"/>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006840" y="1837943"/>
            <a:ext cx="2633472" cy="260604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08008" y="2020824"/>
            <a:ext cx="2231136"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Человек</a:t>
            </a:r>
          </a:p>
        </p:txBody>
      </p:sp>
      <p:sp>
        <p:nvSpPr>
          <p:cNvPr id="22" name="TextBox 21"/>
          <p:cNvSpPr txBox="1"/>
          <p:nvPr/>
        </p:nvSpPr>
        <p:spPr>
          <a:xfrm>
            <a:off x="9208008" y="2871215"/>
            <a:ext cx="2231136" cy="1463040"/>
          </a:xfrm>
          <a:prstGeom prst="rect">
            <a:avLst/>
          </a:prstGeom>
          <a:noFill/>
        </p:spPr>
        <p:txBody>
          <a:bodyPr wrap="square" lIns="0" rIns="0" tIns="0" bIns="0">
            <a:spAutoFit/>
          </a:bodyPr>
          <a:lstStyle/>
          <a:p>
            <a:pPr>
              <a:spcAft>
                <a:spcPts val="600"/>
              </a:spcAft>
              <a:defRPr sz="2100" b="0">
                <a:solidFill>
                  <a:srgbClr val="20364D"/>
                </a:solidFill>
                <a:latin typeface="Arial"/>
              </a:defRPr>
            </a:pPr>
            <a:r>
              <a:t>Контроль</a:t>
            </a:r>
          </a:p>
          <a:p>
            <a:pPr>
              <a:spcAft>
                <a:spcPts val="600"/>
              </a:spcAft>
              <a:defRPr sz="2100" b="0">
                <a:solidFill>
                  <a:srgbClr val="20364D"/>
                </a:solidFill>
                <a:latin typeface="Arial"/>
              </a:defRPr>
            </a:pPr>
            <a:r>
              <a:t>исключений</a:t>
            </a:r>
          </a:p>
        </p:txBody>
      </p:sp>
      <p:sp>
        <p:nvSpPr>
          <p:cNvPr id="23" name="Rounded Rectangle 22"/>
          <p:cNvSpPr/>
          <p:nvPr/>
        </p:nvSpPr>
        <p:spPr>
          <a:xfrm>
            <a:off x="502920" y="4818888"/>
            <a:ext cx="11155680" cy="1069848"/>
          </a:xfrm>
          <a:prstGeom prst="roundRect">
            <a:avLst>
              <a:gd name="adj" fmla="val 13000"/>
            </a:avLst>
          </a:prstGeom>
          <a:solidFill>
            <a:srgbClr val="FFF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5001768"/>
            <a:ext cx="10698480" cy="365760"/>
          </a:xfrm>
          <a:prstGeom prst="rect">
            <a:avLst/>
          </a:prstGeom>
          <a:noFill/>
        </p:spPr>
        <p:txBody>
          <a:bodyPr wrap="square" lIns="0" rIns="0" tIns="0" bIns="0">
            <a:spAutoFit/>
          </a:bodyPr>
          <a:lstStyle/>
          <a:p>
            <a:pPr>
              <a:spcAft>
                <a:spcPts val="600"/>
              </a:spcAft>
              <a:defRPr sz="2100" b="1">
                <a:solidFill>
                  <a:srgbClr val="20364D"/>
                </a:solidFill>
                <a:latin typeface="Arial"/>
              </a:defRPr>
            </a:pPr>
            <a:r>
              <a:t>Проверка в пилоте: меньше опозданий без ухудшения пробега и безопасности</a:t>
            </a:r>
          </a:p>
        </p:txBody>
      </p:sp>
      <p:sp>
        <p:nvSpPr>
          <p:cNvPr id="25" name="TextBox 24"/>
          <p:cNvSpPr txBox="1"/>
          <p:nvPr/>
        </p:nvSpPr>
        <p:spPr>
          <a:xfrm>
            <a:off x="713232" y="5486400"/>
            <a:ext cx="10698480" cy="292608"/>
          </a:xfrm>
          <a:prstGeom prst="rect">
            <a:avLst/>
          </a:prstGeom>
          <a:noFill/>
        </p:spPr>
        <p:txBody>
          <a:bodyPr wrap="square" lIns="0" rIns="0" tIns="0" bIns="0">
            <a:spAutoFit/>
          </a:bodyPr>
          <a:lstStyle/>
          <a:p>
            <a:pPr>
              <a:spcAft>
                <a:spcPts val="600"/>
              </a:spcAft>
              <a:defRPr sz="1800" b="0">
                <a:solidFill>
                  <a:srgbClr val="627387"/>
                </a:solidFill>
                <a:latin typeface="Arial"/>
              </a:defRPr>
            </a:pPr>
            <a:r>
              <a:t>При недоверии к модели → базовый расчет. Минимизация персональных данных.</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Успех ИС = решение + данные + изменение работы</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Полные URL и реестр фактов — research/sources.md и research/case_analysis.md. Обозначения: факт / вывод / реконструкция.</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14 / 15</a:t>
            </a:r>
          </a:p>
        </p:txBody>
      </p:sp>
      <p:sp>
        <p:nvSpPr>
          <p:cNvPr id="8" name="Rounded Rectangle 7"/>
          <p:cNvSpPr/>
          <p:nvPr/>
        </p:nvSpPr>
        <p:spPr>
          <a:xfrm>
            <a:off x="502920" y="1627632"/>
            <a:ext cx="3593592" cy="219456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10512"/>
            <a:ext cx="3191256"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Решение</a:t>
            </a:r>
          </a:p>
        </p:txBody>
      </p:sp>
      <p:sp>
        <p:nvSpPr>
          <p:cNvPr id="10" name="TextBox 9"/>
          <p:cNvSpPr txBox="1"/>
          <p:nvPr/>
        </p:nvSpPr>
        <p:spPr>
          <a:xfrm>
            <a:off x="704088" y="2660904"/>
            <a:ext cx="3191256" cy="1051560"/>
          </a:xfrm>
          <a:prstGeom prst="rect">
            <a:avLst/>
          </a:prstGeom>
          <a:noFill/>
        </p:spPr>
        <p:txBody>
          <a:bodyPr wrap="square" lIns="0" rIns="0" tIns="0" bIns="0">
            <a:spAutoFit/>
          </a:bodyPr>
          <a:lstStyle/>
          <a:p>
            <a:pPr>
              <a:spcAft>
                <a:spcPts val="600"/>
              </a:spcAft>
              <a:defRPr sz="2100" b="0">
                <a:solidFill>
                  <a:srgbClr val="20364D"/>
                </a:solidFill>
                <a:latin typeface="Arial"/>
              </a:defRPr>
            </a:pPr>
            <a:r>
              <a:t>Выбор порядка</a:t>
            </a:r>
          </a:p>
          <a:p>
            <a:pPr>
              <a:spcAft>
                <a:spcPts val="600"/>
              </a:spcAft>
              <a:defRPr sz="2100" b="0">
                <a:solidFill>
                  <a:srgbClr val="20364D"/>
                </a:solidFill>
                <a:latin typeface="Arial"/>
              </a:defRPr>
            </a:pPr>
            <a:r>
              <a:t>остановок</a:t>
            </a:r>
          </a:p>
        </p:txBody>
      </p:sp>
      <p:sp>
        <p:nvSpPr>
          <p:cNvPr id="11" name="Rounded Rectangle 10"/>
          <p:cNvSpPr/>
          <p:nvPr/>
        </p:nvSpPr>
        <p:spPr>
          <a:xfrm>
            <a:off x="4288536" y="1627632"/>
            <a:ext cx="3593592" cy="2194560"/>
          </a:xfrm>
          <a:prstGeom prst="roundRect">
            <a:avLst>
              <a:gd name="adj" fmla="val 13000"/>
            </a:avLst>
          </a:prstGeom>
          <a:solidFill>
            <a:srgbClr val="E8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9703" y="1810512"/>
            <a:ext cx="3191256"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Данные</a:t>
            </a:r>
          </a:p>
        </p:txBody>
      </p:sp>
      <p:sp>
        <p:nvSpPr>
          <p:cNvPr id="13" name="TextBox 12"/>
          <p:cNvSpPr txBox="1"/>
          <p:nvPr/>
        </p:nvSpPr>
        <p:spPr>
          <a:xfrm>
            <a:off x="4489703" y="2660904"/>
            <a:ext cx="3191256" cy="1051560"/>
          </a:xfrm>
          <a:prstGeom prst="rect">
            <a:avLst/>
          </a:prstGeom>
          <a:noFill/>
        </p:spPr>
        <p:txBody>
          <a:bodyPr wrap="square" lIns="0" rIns="0" tIns="0" bIns="0">
            <a:spAutoFit/>
          </a:bodyPr>
          <a:lstStyle/>
          <a:p>
            <a:pPr>
              <a:spcAft>
                <a:spcPts val="600"/>
              </a:spcAft>
              <a:defRPr sz="2100" b="0">
                <a:solidFill>
                  <a:srgbClr val="20364D"/>
                </a:solidFill>
                <a:latin typeface="Arial"/>
              </a:defRPr>
            </a:pPr>
            <a:r>
              <a:t>Точные карты</a:t>
            </a:r>
          </a:p>
          <a:p>
            <a:pPr>
              <a:spcAft>
                <a:spcPts val="600"/>
              </a:spcAft>
              <a:defRPr sz="2100" b="0">
                <a:solidFill>
                  <a:srgbClr val="20364D"/>
                </a:solidFill>
                <a:latin typeface="Arial"/>
              </a:defRPr>
            </a:pPr>
            <a:r>
              <a:t>и ограничения</a:t>
            </a:r>
          </a:p>
        </p:txBody>
      </p:sp>
      <p:sp>
        <p:nvSpPr>
          <p:cNvPr id="14" name="Rounded Rectangle 13"/>
          <p:cNvSpPr/>
          <p:nvPr/>
        </p:nvSpPr>
        <p:spPr>
          <a:xfrm>
            <a:off x="8074152" y="1627632"/>
            <a:ext cx="3593592" cy="219456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810512"/>
            <a:ext cx="3191256" cy="731520"/>
          </a:xfrm>
          <a:prstGeom prst="rect">
            <a:avLst/>
          </a:prstGeom>
          <a:noFill/>
        </p:spPr>
        <p:txBody>
          <a:bodyPr wrap="square" lIns="0" rIns="0" tIns="0" bIns="0">
            <a:spAutoFit/>
          </a:bodyPr>
          <a:lstStyle/>
          <a:p>
            <a:pPr>
              <a:spcAft>
                <a:spcPts val="600"/>
              </a:spcAft>
              <a:defRPr sz="2300" b="1">
                <a:solidFill>
                  <a:srgbClr val="247E83"/>
                </a:solidFill>
                <a:latin typeface="Arial"/>
              </a:defRPr>
            </a:pPr>
            <a:r>
              <a:t>Люди</a:t>
            </a:r>
          </a:p>
        </p:txBody>
      </p:sp>
      <p:sp>
        <p:nvSpPr>
          <p:cNvPr id="16" name="TextBox 15"/>
          <p:cNvSpPr txBox="1"/>
          <p:nvPr/>
        </p:nvSpPr>
        <p:spPr>
          <a:xfrm>
            <a:off x="8275320" y="2660904"/>
            <a:ext cx="3191256" cy="1051560"/>
          </a:xfrm>
          <a:prstGeom prst="rect">
            <a:avLst/>
          </a:prstGeom>
          <a:noFill/>
        </p:spPr>
        <p:txBody>
          <a:bodyPr wrap="square" lIns="0" rIns="0" tIns="0" bIns="0">
            <a:spAutoFit/>
          </a:bodyPr>
          <a:lstStyle/>
          <a:p>
            <a:pPr>
              <a:spcAft>
                <a:spcPts val="600"/>
              </a:spcAft>
              <a:defRPr sz="2100" b="0">
                <a:solidFill>
                  <a:srgbClr val="20364D"/>
                </a:solidFill>
                <a:latin typeface="Arial"/>
              </a:defRPr>
            </a:pPr>
            <a:r>
              <a:t>Испытания</a:t>
            </a:r>
          </a:p>
          <a:p>
            <a:pPr>
              <a:spcAft>
                <a:spcPts val="600"/>
              </a:spcAft>
              <a:defRPr sz="2100" b="0">
                <a:solidFill>
                  <a:srgbClr val="20364D"/>
                </a:solidFill>
                <a:latin typeface="Arial"/>
              </a:defRPr>
            </a:pPr>
            <a:r>
              <a:t>и принятие</a:t>
            </a:r>
          </a:p>
        </p:txBody>
      </p:sp>
      <p:sp>
        <p:nvSpPr>
          <p:cNvPr id="17" name="TextBox 16"/>
          <p:cNvSpPr txBox="1"/>
          <p:nvPr/>
        </p:nvSpPr>
        <p:spPr>
          <a:xfrm>
            <a:off x="594360" y="4151376"/>
            <a:ext cx="10058400" cy="393192"/>
          </a:xfrm>
          <a:prstGeom prst="rect">
            <a:avLst/>
          </a:prstGeom>
          <a:noFill/>
        </p:spPr>
        <p:txBody>
          <a:bodyPr wrap="square" lIns="0" rIns="0" tIns="0" bIns="0">
            <a:spAutoFit/>
          </a:bodyPr>
          <a:lstStyle/>
          <a:p>
            <a:pPr>
              <a:spcAft>
                <a:spcPts val="600"/>
              </a:spcAft>
              <a:defRPr sz="2400" b="1">
                <a:solidFill>
                  <a:srgbClr val="20364D"/>
                </a:solidFill>
                <a:latin typeface="Arial"/>
              </a:defRPr>
            </a:pPr>
            <a:r>
              <a:t>Опорные источники</a:t>
            </a:r>
          </a:p>
        </p:txBody>
      </p:sp>
      <p:sp>
        <p:nvSpPr>
          <p:cNvPr id="18" name="TextBox 17"/>
          <p:cNvSpPr txBox="1"/>
          <p:nvPr/>
        </p:nvSpPr>
        <p:spPr>
          <a:xfrm>
            <a:off x="594360" y="4700016"/>
            <a:ext cx="10789920" cy="365760"/>
          </a:xfrm>
          <a:prstGeom prst="rect">
            <a:avLst/>
          </a:prstGeom>
          <a:noFill/>
        </p:spPr>
        <p:txBody>
          <a:bodyPr wrap="square" lIns="0" rIns="0" tIns="0" bIns="0">
            <a:spAutoFit/>
          </a:bodyPr>
          <a:lstStyle/>
          <a:p>
            <a:pPr>
              <a:spcAft>
                <a:spcPts val="600"/>
              </a:spcAft>
              <a:defRPr sz="2100" b="0">
                <a:solidFill>
                  <a:srgbClr val="20364D"/>
                </a:solidFill>
                <a:latin typeface="Arial"/>
              </a:defRPr>
            </a:pPr>
            <a:r>
              <a:rPr>
                <a:hlinkClick r:id="rId3"/>
              </a:rPr>
              <a:t>[1] Jack Levis, UPS — интервью ODBMS, 2017</a:t>
            </a:r>
          </a:p>
        </p:txBody>
      </p:sp>
      <p:sp>
        <p:nvSpPr>
          <p:cNvPr id="19" name="TextBox 18"/>
          <p:cNvSpPr txBox="1"/>
          <p:nvPr/>
        </p:nvSpPr>
        <p:spPr>
          <a:xfrm>
            <a:off x="594360" y="5230368"/>
            <a:ext cx="10789920" cy="658368"/>
          </a:xfrm>
          <a:prstGeom prst="rect">
            <a:avLst/>
          </a:prstGeom>
          <a:noFill/>
        </p:spPr>
        <p:txBody>
          <a:bodyPr wrap="square" lIns="0" rIns="0" tIns="0" bIns="0">
            <a:spAutoFit/>
          </a:bodyPr>
          <a:lstStyle/>
          <a:p>
            <a:pPr>
              <a:spcAft>
                <a:spcPts val="600"/>
              </a:spcAft>
              <a:defRPr sz="2000" b="0">
                <a:solidFill>
                  <a:srgbClr val="20364D"/>
                </a:solidFill>
                <a:latin typeface="Arial"/>
              </a:defRPr>
            </a:pPr>
            <a:r>
              <a:rPr>
                <a:hlinkClick r:id="rId4"/>
              </a:rPr>
              <a:t>[4] INFORMS / ORMS Today — «ORION: результат для UPS», 2016</a:t>
            </a:r>
          </a:p>
        </p:txBody>
      </p:sp>
      <p:sp>
        <p:nvSpPr>
          <p:cNvPr id="20" name="TextBox 19"/>
          <p:cNvSpPr txBox="1"/>
          <p:nvPr/>
        </p:nvSpPr>
        <p:spPr>
          <a:xfrm>
            <a:off x="594360" y="5961888"/>
            <a:ext cx="10789920" cy="274320"/>
          </a:xfrm>
          <a:prstGeom prst="rect">
            <a:avLst/>
          </a:prstGeom>
          <a:noFill/>
        </p:spPr>
        <p:txBody>
          <a:bodyPr wrap="square" lIns="0" rIns="0" tIns="0" bIns="0">
            <a:spAutoFit/>
          </a:bodyPr>
          <a:lstStyle/>
          <a:p>
            <a:pPr>
              <a:spcAft>
                <a:spcPts val="600"/>
              </a:spcAft>
              <a:defRPr sz="1500" b="0">
                <a:solidFill>
                  <a:srgbClr val="627387"/>
                </a:solidFill>
                <a:latin typeface="Arial"/>
              </a:defRPr>
            </a:pPr>
            <a:r>
              <a:t>[4] Архив: 16.05.2025. [5] UPS — пресс-релиз о запуске, 12.04.2016 (GlobeNewswire).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058400" cy="228600"/>
          </a:xfrm>
          <a:prstGeom prst="rect">
            <a:avLst/>
          </a:prstGeom>
          <a:noFill/>
        </p:spPr>
        <p:txBody>
          <a:bodyPr wrap="square" lIns="0" rIns="0" tIns="0" bIns="0">
            <a:spAutoFit/>
          </a:bodyPr>
          <a:lstStyle/>
          <a:p>
            <a:pPr>
              <a:spcAft>
                <a:spcPts val="600"/>
              </a:spcAft>
              <a:defRPr sz="1000" b="1">
                <a:solidFill>
                  <a:srgbClr val="627387"/>
                </a:solidFill>
                <a:latin typeface="Arial"/>
              </a:defRPr>
            </a:pPr>
            <a:r>
              <a:t>ПРОЕКТИРОВАНИЕ ИНФОРМАЦИОННЫХ СИСТЕМ</a:t>
            </a:r>
          </a:p>
        </p:txBody>
      </p:sp>
      <p:sp>
        <p:nvSpPr>
          <p:cNvPr id="4" name="TextBox 3"/>
          <p:cNvSpPr txBox="1"/>
          <p:nvPr/>
        </p:nvSpPr>
        <p:spPr>
          <a:xfrm>
            <a:off x="457200" y="667512"/>
            <a:ext cx="11201400" cy="658368"/>
          </a:xfrm>
          <a:prstGeom prst="rect">
            <a:avLst/>
          </a:prstGeom>
          <a:noFill/>
        </p:spPr>
        <p:txBody>
          <a:bodyPr wrap="square" lIns="0" rIns="0" tIns="0" bIns="0">
            <a:spAutoFit/>
          </a:bodyPr>
          <a:lstStyle/>
          <a:p>
            <a:pPr>
              <a:spcAft>
                <a:spcPts val="600"/>
              </a:spcAft>
              <a:defRPr sz="3000" b="1">
                <a:solidFill>
                  <a:srgbClr val="20364D"/>
                </a:solidFill>
                <a:latin typeface="Arial"/>
              </a:defRPr>
            </a:pPr>
            <a:r>
              <a:t>Вопросы другим мини-группам</a:t>
            </a:r>
          </a:p>
        </p:txBody>
      </p:sp>
      <p:sp>
        <p:nvSpPr>
          <p:cNvPr id="5" name="Rectangle 4"/>
          <p:cNvSpPr/>
          <p:nvPr/>
        </p:nvSpPr>
        <p:spPr>
          <a:xfrm>
            <a:off x="457200" y="6437376"/>
            <a:ext cx="11247120" cy="10972"/>
          </a:xfrm>
          <a:prstGeom prst="rect">
            <a:avLst/>
          </a:prstGeom>
          <a:solidFill>
            <a:srgbClr val="D9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10607040" cy="182880"/>
          </a:xfrm>
          <a:prstGeom prst="rect">
            <a:avLst/>
          </a:prstGeom>
          <a:noFill/>
        </p:spPr>
        <p:txBody>
          <a:bodyPr wrap="square" lIns="0" rIns="0" tIns="0" bIns="0">
            <a:spAutoFit/>
          </a:bodyPr>
          <a:lstStyle/>
          <a:p>
            <a:pPr>
              <a:spcAft>
                <a:spcPts val="600"/>
              </a:spcAft>
              <a:defRPr sz="950" b="0">
                <a:solidFill>
                  <a:srgbClr val="627387"/>
                </a:solidFill>
                <a:latin typeface="Arial"/>
              </a:defRPr>
            </a:pPr>
            <a:r>
              <a:t>Ответы для выступающего и дополнительные вопросы — docs/questions.md.</a:t>
            </a:r>
          </a:p>
        </p:txBody>
      </p:sp>
      <p:sp>
        <p:nvSpPr>
          <p:cNvPr id="7" name="TextBox 6"/>
          <p:cNvSpPr txBox="1"/>
          <p:nvPr/>
        </p:nvSpPr>
        <p:spPr>
          <a:xfrm>
            <a:off x="10972800" y="6528816"/>
            <a:ext cx="758952" cy="228600"/>
          </a:xfrm>
          <a:prstGeom prst="rect">
            <a:avLst/>
          </a:prstGeom>
          <a:noFill/>
        </p:spPr>
        <p:txBody>
          <a:bodyPr wrap="square" lIns="0" rIns="0" tIns="0" bIns="0">
            <a:spAutoFit/>
          </a:bodyPr>
          <a:lstStyle/>
          <a:p>
            <a:pPr>
              <a:spcAft>
                <a:spcPts val="600"/>
              </a:spcAft>
              <a:defRPr sz="1000" b="0">
                <a:solidFill>
                  <a:srgbClr val="627387"/>
                </a:solidFill>
                <a:latin typeface="Arial"/>
              </a:defRPr>
            </a:pPr>
            <a:r>
              <a:t>15 / 15</a:t>
            </a:r>
          </a:p>
        </p:txBody>
      </p:sp>
      <p:sp>
        <p:nvSpPr>
          <p:cNvPr id="8" name="Rounded Rectangle 7"/>
          <p:cNvSpPr/>
          <p:nvPr/>
        </p:nvSpPr>
        <p:spPr>
          <a:xfrm>
            <a:off x="502920" y="1554480"/>
            <a:ext cx="566928" cy="566928"/>
          </a:xfrm>
          <a:prstGeom prst="roundRect">
            <a:avLst>
              <a:gd name="adj" fmla="val 13000"/>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73352"/>
            <a:ext cx="274320" cy="320040"/>
          </a:xfrm>
          <a:prstGeom prst="rect">
            <a:avLst/>
          </a:prstGeom>
          <a:noFill/>
        </p:spPr>
        <p:txBody>
          <a:bodyPr wrap="square" lIns="0" rIns="0" tIns="0" bIns="0">
            <a:spAutoFit/>
          </a:bodyPr>
          <a:lstStyle/>
          <a:p>
            <a:pPr>
              <a:spcAft>
                <a:spcPts val="600"/>
              </a:spcAft>
              <a:defRPr sz="2100" b="1">
                <a:solidFill>
                  <a:srgbClr val="FFFFFF"/>
                </a:solidFill>
                <a:latin typeface="Arial"/>
              </a:defRPr>
            </a:pPr>
            <a:r>
              <a:t>1</a:t>
            </a:r>
          </a:p>
        </p:txBody>
      </p:sp>
      <p:sp>
        <p:nvSpPr>
          <p:cNvPr id="10" name="TextBox 9"/>
          <p:cNvSpPr txBox="1"/>
          <p:nvPr/>
        </p:nvSpPr>
        <p:spPr>
          <a:xfrm>
            <a:off x="1280160" y="1636776"/>
            <a:ext cx="10287000" cy="594360"/>
          </a:xfrm>
          <a:prstGeom prst="rect">
            <a:avLst/>
          </a:prstGeom>
          <a:noFill/>
        </p:spPr>
        <p:txBody>
          <a:bodyPr wrap="square" lIns="0" rIns="0" tIns="0" bIns="0">
            <a:spAutoFit/>
          </a:bodyPr>
          <a:lstStyle/>
          <a:p>
            <a:pPr>
              <a:spcAft>
                <a:spcPts val="600"/>
              </a:spcAft>
              <a:defRPr sz="2300" b="0">
                <a:solidFill>
                  <a:srgbClr val="20364D"/>
                </a:solidFill>
                <a:latin typeface="Arial"/>
              </a:defRPr>
            </a:pPr>
            <a:r>
              <a:t>Какое звено AS-IS ограничивало качество решения?</a:t>
            </a:r>
          </a:p>
        </p:txBody>
      </p:sp>
      <p:sp>
        <p:nvSpPr>
          <p:cNvPr id="11" name="Rounded Rectangle 10"/>
          <p:cNvSpPr/>
          <p:nvPr/>
        </p:nvSpPr>
        <p:spPr>
          <a:xfrm>
            <a:off x="502920" y="2414015"/>
            <a:ext cx="566928" cy="566928"/>
          </a:xfrm>
          <a:prstGeom prst="roundRect">
            <a:avLst>
              <a:gd name="adj" fmla="val 13000"/>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2532887"/>
            <a:ext cx="274320" cy="320040"/>
          </a:xfrm>
          <a:prstGeom prst="rect">
            <a:avLst/>
          </a:prstGeom>
          <a:noFill/>
        </p:spPr>
        <p:txBody>
          <a:bodyPr wrap="square" lIns="0" rIns="0" tIns="0" bIns="0">
            <a:spAutoFit/>
          </a:bodyPr>
          <a:lstStyle/>
          <a:p>
            <a:pPr>
              <a:spcAft>
                <a:spcPts val="600"/>
              </a:spcAft>
              <a:defRPr sz="2100" b="1">
                <a:solidFill>
                  <a:srgbClr val="FFFFFF"/>
                </a:solidFill>
                <a:latin typeface="Arial"/>
              </a:defRPr>
            </a:pPr>
            <a:r>
              <a:t>2</a:t>
            </a:r>
          </a:p>
        </p:txBody>
      </p:sp>
      <p:sp>
        <p:nvSpPr>
          <p:cNvPr id="13" name="TextBox 12"/>
          <p:cNvSpPr txBox="1"/>
          <p:nvPr/>
        </p:nvSpPr>
        <p:spPr>
          <a:xfrm>
            <a:off x="1280160" y="2496311"/>
            <a:ext cx="10287000" cy="594360"/>
          </a:xfrm>
          <a:prstGeom prst="rect">
            <a:avLst/>
          </a:prstGeom>
          <a:noFill/>
        </p:spPr>
        <p:txBody>
          <a:bodyPr wrap="square" lIns="0" rIns="0" tIns="0" bIns="0">
            <a:spAutoFit/>
          </a:bodyPr>
          <a:lstStyle/>
          <a:p>
            <a:pPr>
              <a:spcAft>
                <a:spcPts val="600"/>
              </a:spcAft>
              <a:defRPr sz="2300" b="0">
                <a:solidFill>
                  <a:srgbClr val="20364D"/>
                </a:solidFill>
                <a:latin typeface="Arial"/>
              </a:defRPr>
            </a:pPr>
            <a:r>
              <a:t>Почему ошибка карты может обесценить хороший алгоритм?</a:t>
            </a:r>
          </a:p>
        </p:txBody>
      </p:sp>
      <p:sp>
        <p:nvSpPr>
          <p:cNvPr id="14" name="Rounded Rectangle 13"/>
          <p:cNvSpPr/>
          <p:nvPr/>
        </p:nvSpPr>
        <p:spPr>
          <a:xfrm>
            <a:off x="502920" y="3273552"/>
            <a:ext cx="566928" cy="566928"/>
          </a:xfrm>
          <a:prstGeom prst="roundRect">
            <a:avLst>
              <a:gd name="adj" fmla="val 13000"/>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392424"/>
            <a:ext cx="274320" cy="320040"/>
          </a:xfrm>
          <a:prstGeom prst="rect">
            <a:avLst/>
          </a:prstGeom>
          <a:noFill/>
        </p:spPr>
        <p:txBody>
          <a:bodyPr wrap="square" lIns="0" rIns="0" tIns="0" bIns="0">
            <a:spAutoFit/>
          </a:bodyPr>
          <a:lstStyle/>
          <a:p>
            <a:pPr>
              <a:spcAft>
                <a:spcPts val="600"/>
              </a:spcAft>
              <a:defRPr sz="2100" b="1">
                <a:solidFill>
                  <a:srgbClr val="FFFFFF"/>
                </a:solidFill>
                <a:latin typeface="Arial"/>
              </a:defRPr>
            </a:pPr>
            <a:r>
              <a:t>3</a:t>
            </a:r>
          </a:p>
        </p:txBody>
      </p:sp>
      <p:sp>
        <p:nvSpPr>
          <p:cNvPr id="16" name="TextBox 15"/>
          <p:cNvSpPr txBox="1"/>
          <p:nvPr/>
        </p:nvSpPr>
        <p:spPr>
          <a:xfrm>
            <a:off x="1280160" y="3355848"/>
            <a:ext cx="10287000" cy="594360"/>
          </a:xfrm>
          <a:prstGeom prst="rect">
            <a:avLst/>
          </a:prstGeom>
          <a:noFill/>
        </p:spPr>
        <p:txBody>
          <a:bodyPr wrap="square" lIns="0" rIns="0" tIns="0" bIns="0">
            <a:spAutoFit/>
          </a:bodyPr>
          <a:lstStyle/>
          <a:p>
            <a:pPr>
              <a:spcAft>
                <a:spcPts val="600"/>
              </a:spcAft>
              <a:defRPr sz="2300" b="0">
                <a:solidFill>
                  <a:srgbClr val="20364D"/>
                </a:solidFill>
                <a:latin typeface="Arial"/>
              </a:defRPr>
            </a:pPr>
            <a:r>
              <a:t>Почему нельзя назвать архитектуру микросервисной по этой схеме?</a:t>
            </a:r>
          </a:p>
        </p:txBody>
      </p:sp>
      <p:sp>
        <p:nvSpPr>
          <p:cNvPr id="17" name="Rounded Rectangle 16"/>
          <p:cNvSpPr/>
          <p:nvPr/>
        </p:nvSpPr>
        <p:spPr>
          <a:xfrm>
            <a:off x="502920" y="4133087"/>
            <a:ext cx="566928" cy="566928"/>
          </a:xfrm>
          <a:prstGeom prst="roundRect">
            <a:avLst>
              <a:gd name="adj" fmla="val 13000"/>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4251959"/>
            <a:ext cx="274320" cy="320040"/>
          </a:xfrm>
          <a:prstGeom prst="rect">
            <a:avLst/>
          </a:prstGeom>
          <a:noFill/>
        </p:spPr>
        <p:txBody>
          <a:bodyPr wrap="square" lIns="0" rIns="0" tIns="0" bIns="0">
            <a:spAutoFit/>
          </a:bodyPr>
          <a:lstStyle/>
          <a:p>
            <a:pPr>
              <a:spcAft>
                <a:spcPts val="600"/>
              </a:spcAft>
              <a:defRPr sz="2100" b="1">
                <a:solidFill>
                  <a:srgbClr val="FFFFFF"/>
                </a:solidFill>
                <a:latin typeface="Arial"/>
              </a:defRPr>
            </a:pPr>
            <a:r>
              <a:t>4</a:t>
            </a:r>
          </a:p>
        </p:txBody>
      </p:sp>
      <p:sp>
        <p:nvSpPr>
          <p:cNvPr id="19" name="TextBox 18"/>
          <p:cNvSpPr txBox="1"/>
          <p:nvPr/>
        </p:nvSpPr>
        <p:spPr>
          <a:xfrm>
            <a:off x="1280160" y="4215383"/>
            <a:ext cx="10287000" cy="594360"/>
          </a:xfrm>
          <a:prstGeom prst="rect">
            <a:avLst/>
          </a:prstGeom>
          <a:noFill/>
        </p:spPr>
        <p:txBody>
          <a:bodyPr wrap="square" lIns="0" rIns="0" tIns="0" bIns="0">
            <a:spAutoFit/>
          </a:bodyPr>
          <a:lstStyle/>
          <a:p>
            <a:pPr>
              <a:spcAft>
                <a:spcPts val="600"/>
              </a:spcAft>
              <a:defRPr sz="2300" b="0">
                <a:solidFill>
                  <a:srgbClr val="20364D"/>
                </a:solidFill>
                <a:latin typeface="Arial"/>
              </a:defRPr>
            </a:pPr>
            <a:r>
              <a:t>Что изменить при росте нагрузки в десять раз?</a:t>
            </a:r>
          </a:p>
        </p:txBody>
      </p:sp>
      <p:sp>
        <p:nvSpPr>
          <p:cNvPr id="20" name="Rounded Rectangle 19"/>
          <p:cNvSpPr/>
          <p:nvPr/>
        </p:nvSpPr>
        <p:spPr>
          <a:xfrm>
            <a:off x="502920" y="4992624"/>
            <a:ext cx="566928" cy="566928"/>
          </a:xfrm>
          <a:prstGeom prst="roundRect">
            <a:avLst>
              <a:gd name="adj" fmla="val 13000"/>
            </a:avLst>
          </a:prstGeom>
          <a:solidFill>
            <a:srgbClr val="24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5111496"/>
            <a:ext cx="274320" cy="320040"/>
          </a:xfrm>
          <a:prstGeom prst="rect">
            <a:avLst/>
          </a:prstGeom>
          <a:noFill/>
        </p:spPr>
        <p:txBody>
          <a:bodyPr wrap="square" lIns="0" rIns="0" tIns="0" bIns="0">
            <a:spAutoFit/>
          </a:bodyPr>
          <a:lstStyle/>
          <a:p>
            <a:pPr>
              <a:spcAft>
                <a:spcPts val="600"/>
              </a:spcAft>
              <a:defRPr sz="2100" b="1">
                <a:solidFill>
                  <a:srgbClr val="FFFFFF"/>
                </a:solidFill>
                <a:latin typeface="Arial"/>
              </a:defRPr>
            </a:pPr>
            <a:r>
              <a:t>5</a:t>
            </a:r>
          </a:p>
        </p:txBody>
      </p:sp>
      <p:sp>
        <p:nvSpPr>
          <p:cNvPr id="22" name="TextBox 21"/>
          <p:cNvSpPr txBox="1"/>
          <p:nvPr/>
        </p:nvSpPr>
        <p:spPr>
          <a:xfrm>
            <a:off x="1280160" y="5074920"/>
            <a:ext cx="10287000" cy="594360"/>
          </a:xfrm>
          <a:prstGeom prst="rect">
            <a:avLst/>
          </a:prstGeom>
          <a:noFill/>
        </p:spPr>
        <p:txBody>
          <a:bodyPr wrap="square" lIns="0" rIns="0" tIns="0" bIns="0">
            <a:spAutoFit/>
          </a:bodyPr>
          <a:lstStyle/>
          <a:p>
            <a:pPr>
              <a:spcAft>
                <a:spcPts val="600"/>
              </a:spcAft>
              <a:defRPr sz="2300" b="0">
                <a:solidFill>
                  <a:srgbClr val="20364D"/>
                </a:solidFill>
                <a:latin typeface="Arial"/>
              </a:defRPr>
            </a:pPr>
            <a:r>
              <a:t>Какой пилот докажет пользу ML, а не только точность прогноза?</a:t>
            </a:r>
          </a:p>
        </p:txBody>
      </p:sp>
      <p:sp>
        <p:nvSpPr>
          <p:cNvPr id="23" name="TextBox 22"/>
          <p:cNvSpPr txBox="1"/>
          <p:nvPr/>
        </p:nvSpPr>
        <p:spPr>
          <a:xfrm>
            <a:off x="594360" y="6053328"/>
            <a:ext cx="10972800" cy="292608"/>
          </a:xfrm>
          <a:prstGeom prst="rect">
            <a:avLst/>
          </a:prstGeom>
          <a:noFill/>
        </p:spPr>
        <p:txBody>
          <a:bodyPr wrap="square" lIns="0" rIns="0" tIns="0" bIns="0">
            <a:spAutoFit/>
          </a:bodyPr>
          <a:lstStyle/>
          <a:p>
            <a:pPr>
              <a:spcAft>
                <a:spcPts val="600"/>
              </a:spcAft>
              <a:defRPr sz="1700" b="1">
                <a:solidFill>
                  <a:srgbClr val="247E83"/>
                </a:solidFill>
                <a:latin typeface="Arial"/>
              </a:defRPr>
            </a:pPr>
            <a:r>
              <a:t>Главный вывод: проектировать нужно не алгоритм отдельно, а весь процесс принятия решения.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